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explain the domain, work and findings from 01-exploration.ipynb. The combined CSV contains 109,353 records, 93,000 Normal and 16,353 DoS (14.9543%). Labels are supplied by the dataset and are used for descriptive comparison. No train/test split, detector training, threshold tuning or predictive evaluation has been performed. These proportions are properties of the selected laboratory benchmark, not operational attack prevalence. Source: content/normal_dos.csv and the current exploration notebook.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packet is a unit of network communication; the flow record summarizes packets observed in the two directions. A flow may be one-sided, and a long logical session can be split across records. DoS can consume bandwidth, connection-handling capacity or application resources, preventing legitimate users from accessing a service. False alerts waste analyst time and inappropriate blocking can interrupt useful traffic; missed attacks can prolong disruption. These inputs lack payloads and server-availability measurements. Sources: CISA, https://www.cisa.gov/sites/default/files/publications/understanding-and-responding-to-ddos-attacks_508c.pdf ; Argus manual, https://openargus.org/oldsite/man/man1/ra.1.pdf ; UNSW dataset description, https://research.unsw.edu.au/projects/unsw-nb15-dataset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supplied loader chooses 3 categories (proto, service, state), 4 directional volume features (spkts, dpkts, sbytes, dbytes), 3 speed features (rate, sload, dload) and 3 timing features (dur, sinpkt, dinpkt). Duration is seconds; rates are packets/s; loads bits/s; timing gaps ms. State is protocol-dependent; service "-" means unidentified/unspecified. TCP, UDP, routing and diagnostic protocols have different normal behavior. The loader omits TTL and loss-related fields to focus on traffic behavior rather than routing/OS environment; that is a domain-driven rationale, not experimentally proven optimal feature selection. Historical protocol codes and the unresolved state "no" are documented in skills/DOMAIN_NOTES.md and categorical_value_dictionary.csv. Labels are excluded from predictors.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follows the statistical temperature notebook 01b and the raw-data exploration in engine notebook 07a: inspect variables, draw histograms, use zooms, plot pairs of variables, compare conditions, and return to individual examples. Mean/std and median/quantiles are examined because skewed traffic can make averages misleading. We checked dtypes, missing/infinite/negative values, zeros, repeats and conflicting labels. All descriptive statistics use the complete combined data; selected scatterplots use a reproducible sample of 2,000 rows with seed 42. Plot zooms do not remove data. The notebook uses no detector or decision threshold. Classroom methods are linked in skills/COURSE_SOURCES.md.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smaller training/testing files were combined for this exploration at the user’s request. We retained only Normal and DoS, with 93,000 and 16,353 rows respectively; all other attack families were excluded. Their original boundaries are not used as an experiment in this phase. No performance estimate is derived from these labels. The official UNSW description documents laboratory generation with normal activity and synthetic contemporary attacks. Therefore the 15% attack mixture must not be presented as real-world frequency. Source: content/normal_dos.csv; UNSW website and Moustafa &amp; Slay (2015).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series is normalized by its own class total, not by the number of flows of a specific protocol. For example, about 72.0% of Normal records use TCP, while about 20.4% of DoS records use TCP. This does not mean that 20.4% of TCP traffic is DoS. The plot shows TCP, UDP, unas, ARP, OSPF and all 128 remaining labels grouped as Other; the full blue and orange series each sum to 100%. There are 133 observed protocol labels; 126 have no Normal examples in this subset and account for 70.6% of DoS records. This is incomplete normal coverage and a possible laboratory/exporter shortcut, not evidence that these protocols are intrinsically malicious. unas is an unnamed-protocol exporter fallback. Source: recomputed crosstab on content/normal_dos.csv, same calculation as notebook categories.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notebook histogram calculations redrawn for projection. X axes are logarithmic but labeled with actual values; duration is converted to microseconds. Y shows percent of the entire class per logarithmic bin, making the class shapes comparable. Only strictly positive values can appear on log axes. Zero duration: Normal 3.81%, DoS 0.067%; zero rate: Normal 3.79%, DoS 0.813%; they remain in the dataset. The DoS median is 9 microseconds, compared with Normal 53.9385 milliseconds. DoS mean duration is about 2.45 seconds: the long tail makes the mean and median differ. For two packets separated by 10 microseconds, one observed interval gives about 100,000 packets/s, although the record contains only two packets. We do not infer overall server traffic or outages from this number. Source: notebook numerical distributions and local CSV.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event is dpkts == 0, calculated over each class separately, using all rows. It occurs in about 77.7044% of DoS and 13.8161% of Normal records. Zero return bytes coincide with zero return packets in this selected dataset, so these are not two independent pieces of evidence. One-way traffic can be normal for some protocols or reflect what was captured/exported. OSPF and ARP examples demonstrate why the condition alone is not a universal attack rule. An absence of observed return packets is not the same as a proved failed application response or a server outage. Source: notebook zero-value section and content/normal_dos.csv.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feature-against-feature scatterplots requested by the user, not a correlation heatmap. It uses the same reproducible sample of 2,000 records, seed 42. Blue/Orange indicate supplied labels. The view zooms to &lt;=100 source packets and &lt;=100kB source transaction bytes; all statistics and source records are retained. Source bytes include exported transaction data, not purely application payload. Sending more packets often goes with more bytes, but packet sizes vary and groups overlap. The figure is descriptive; no regression line, anomaly score or decision boundary is fitted. The notebook shows full-range plots and reports the percentage inside each close-up. We avoid a mirrored second copy of this pair to keep the slide clear.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medians of all relevant records, not fitted estimates. Across all protocols, Normal median rate is 642.3257 packets/s and DoS is 111,111.1072. Within TCP, Normal is 104.7915 and DoS 37.6784. Thus the direction of the comparison reverses when the protocol is held fixed. The panels use different x-axis limits deliberately and the values are printed directly; do not compare bar lengths across panels. This illustrates the class lesson from bearing temperature versus ambient temperature and the single/two-state machine examples: context can explain the raw measurement. It does not prove a causal protocol effect. Future analysis should compare flows within relevant protocol/service/state populations. Source: notebook rate_medians 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candidates are derived solely from the original selected features, never labels. Return packet share is dpkts/(spkts+dpkts): 0 means no recorded return packets; 0.5 equal directional counts. The packet sum describes this flow record, not the number of flows or connections across a time window. Mean source bytes per packet is sbytes/spkts; transaction bytes are not payload alone. Zero denominators would be left undefined. Here all spkts are &gt;=1. Histogram Y is percentage of the entire class per bin; no fitted probability is implied. Source bytes-per-packet display uses 0–2,000 and is a display zoom; undefined/outside counts are documented in the notebook. These transformations make patterns easier to explain and have not been shown to improve a detector. Source: notebook extra-features section.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bar uses all observed records. The second counts each feature-plus-label combination once, leaving 77,873 Normal combinations and 4,635 DoS combinations; DoS share changes from 14.9543% to 5.6176%. Identical predictor vectors with both labels occur once per label in the second view. This is not a recommended automatic cleaning step or a revised prevalence estimate. Repetition might reflect repeated behavior, quantization, export processing or duplicated rows; these columns cannot distinguish the explanations. We retain every record in the current dataset. Missing values, negative numerical values and nonfinite numerical values are all zero in the selected CSV, but that does not resolve repeated observations or annotation ambiguity. Source: notebook data-quality checks, recomputed from the local CSV.</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example is the most frequently repeated conflicting predictor vector, selected transparently by group size. All 13 feature values match between at least one Normal and one DoS row; the slide shows only selected fields for readability. The specific vector has proto udp, service -, state INT, dur 0.000009, spkts 2, dpkts 0, sbytes 78, dbytes 0, rate 111111.1072, sload 34666664.0, dload 0, sinpkt 0.009, dinpkt 0.0. There are 24 conflicting vectors covering 782 rows overall. A deterministic rule using only these 13 measurements cannot separate the opposite labels for those identical inputs. This does not prove the labels are wrong: absent context or annotation ambiguity are possible. Ratios of the same inputs cannot restore missing information. Source: notebook repeated-measurement audit; exact equality verified during deck generation.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 scope: identify individual exported network-flow records whose behavior differs from comparable legitimate patterns represented in this Normal/DoS subset; investigate alignment with the supplied DoS labels. Inputs are the selected 13 features and optional explainable deterministic summaries. The labels are separate and were used openly during exploration. Normal traffic has multiple contexts, and some categories have no Normal coverage. Later work could learn normal behavior from Normal examples; this deck does not claim success of any detector. Cross-flow collective attacks cannot be reconstructed without trustworthy timestamps, host/destination identifiers and observation coverage; server logs/resource metrics would support actual availability claims. A labeled DoS record need not be a statistical outlier. Future evaluation must consider false alerts, missed attacks, category shortcuts, repeats and label conflicts. No fitting, threshold selection, train/test experiment or future-attack accuracy is presented.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sources: Moustafa, N. and Slay, J. (2015), UNSW-NB15: a comprehensive data set for network intrusion detection systems, MilCIS 2015, linked from the official dataset page. Argus ra manual physical pages 5 and 16 define units and protocol-dependent state. CISA guidance provides availability/resource-exhaustion context. The complete protocol/service/state glossary with primary references is in skills/DOMAIN_NOTES.md and categorical_value_dictionary.csv. Class references: references/WPI_AnoDet_01b_AD_statistical_solution.ipynb; references/WM_AnDet_07a_PCA_AE_NCMAPSS.ipynb; single/two-state OCSVM/Isolation Forest machine examples. All numerical findings were recomputed from content/normal_dos.csv to build this deck. Slide charts redraw selected current notebook plots for projection-sized text; no additional model is fitted. Original source data and notebook are not modified by this generator.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earch.unsw.edu.au/projects/unsw-nb15-dataset" TargetMode="External"/><Relationship Id="rId3" Type="http://schemas.openxmlformats.org/officeDocument/2006/relationships/hyperlink" Target="https://openargus.org/oldsite/man/man1/ra.1.pdf" TargetMode="External"/><Relationship Id="rId4" Type="http://schemas.openxmlformats.org/officeDocument/2006/relationships/hyperlink" Target="https://www.cisa.gov/sites/default/files/publications/understanding-and-responding-to-ddos-attacks_508c.pdf" TargetMode="External"/><Relationship Id="rId5"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DOMAIN UNDERSTANDING · DATA EXPLORATION</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Understanding Normal and DoS traffic</a:t>
            </a:r>
          </a:p>
        </p:txBody>
      </p:sp>
      <p:sp>
        <p:nvSpPr>
          <p:cNvPr id="5" name="TextBox 4"/>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6" name="TextBox 5"/>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01</a:t>
            </a:r>
          </a:p>
        </p:txBody>
      </p:sp>
      <p:sp>
        <p:nvSpPr>
          <p:cNvPr id="7" name="TextBox 6"/>
          <p:cNvSpPr txBox="1"/>
          <p:nvPr/>
        </p:nvSpPr>
        <p:spPr>
          <a:xfrm>
            <a:off x="530352" y="1691640"/>
            <a:ext cx="10058400" cy="914400"/>
          </a:xfrm>
          <a:prstGeom prst="rect">
            <a:avLst/>
          </a:prstGeom>
          <a:noFill/>
        </p:spPr>
        <p:txBody>
          <a:bodyPr wrap="square" lIns="0" rIns="0" tIns="0" bIns="0">
            <a:spAutoFit/>
          </a:bodyPr>
          <a:lstStyle/>
          <a:p>
            <a:pPr>
              <a:spcAft>
                <a:spcPts val="600"/>
              </a:spcAft>
              <a:defRPr sz="3600" b="1">
                <a:solidFill>
                  <a:srgbClr val="152C43"/>
                </a:solidFill>
                <a:latin typeface="Arial"/>
              </a:defRPr>
            </a:pPr>
            <a:r>
              <a:t>What do the flows tell us?</a:t>
            </a:r>
          </a:p>
        </p:txBody>
      </p:sp>
      <p:sp>
        <p:nvSpPr>
          <p:cNvPr id="8" name="TextBox 7"/>
          <p:cNvSpPr txBox="1"/>
          <p:nvPr/>
        </p:nvSpPr>
        <p:spPr>
          <a:xfrm>
            <a:off x="548640" y="2679192"/>
            <a:ext cx="10881360" cy="594360"/>
          </a:xfrm>
          <a:prstGeom prst="rect">
            <a:avLst/>
          </a:prstGeom>
          <a:noFill/>
        </p:spPr>
        <p:txBody>
          <a:bodyPr wrap="square" lIns="0" rIns="0" tIns="0" bIns="0">
            <a:spAutoFit/>
          </a:bodyPr>
          <a:lstStyle/>
          <a:p>
            <a:pPr>
              <a:spcAft>
                <a:spcPts val="600"/>
              </a:spcAft>
              <a:defRPr sz="2300" b="0">
                <a:solidFill>
                  <a:srgbClr val="586A7A"/>
                </a:solidFill>
                <a:latin typeface="Arial"/>
              </a:defRPr>
            </a:pPr>
            <a:r>
              <a:t>Explore first. Define the detection task from the evidence.</a:t>
            </a:r>
          </a:p>
        </p:txBody>
      </p:sp>
      <p:sp>
        <p:nvSpPr>
          <p:cNvPr id="9" name="Rounded Rectangle 8"/>
          <p:cNvSpPr/>
          <p:nvPr/>
        </p:nvSpPr>
        <p:spPr>
          <a:xfrm>
            <a:off x="548640" y="3977639"/>
            <a:ext cx="3383280" cy="132588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4197096"/>
            <a:ext cx="3017520" cy="594360"/>
          </a:xfrm>
          <a:prstGeom prst="rect">
            <a:avLst/>
          </a:prstGeom>
          <a:noFill/>
        </p:spPr>
        <p:txBody>
          <a:bodyPr wrap="square" lIns="0" rIns="0" tIns="0" bIns="0">
            <a:spAutoFit/>
          </a:bodyPr>
          <a:lstStyle/>
          <a:p>
            <a:pPr>
              <a:spcAft>
                <a:spcPts val="600"/>
              </a:spcAft>
              <a:defRPr sz="3600" b="1">
                <a:solidFill>
                  <a:srgbClr val="0072B2"/>
                </a:solidFill>
                <a:latin typeface="Arial"/>
              </a:defRPr>
            </a:pPr>
            <a:r>
              <a:t>109,353</a:t>
            </a:r>
          </a:p>
        </p:txBody>
      </p:sp>
      <p:sp>
        <p:nvSpPr>
          <p:cNvPr id="11" name="TextBox 10"/>
          <p:cNvSpPr txBox="1"/>
          <p:nvPr/>
        </p:nvSpPr>
        <p:spPr>
          <a:xfrm>
            <a:off x="749808" y="4828032"/>
            <a:ext cx="3017520" cy="301752"/>
          </a:xfrm>
          <a:prstGeom prst="rect">
            <a:avLst/>
          </a:prstGeom>
          <a:noFill/>
        </p:spPr>
        <p:txBody>
          <a:bodyPr wrap="square" lIns="0" rIns="0" tIns="0" bIns="0">
            <a:spAutoFit/>
          </a:bodyPr>
          <a:lstStyle/>
          <a:p>
            <a:pPr>
              <a:spcAft>
                <a:spcPts val="600"/>
              </a:spcAft>
              <a:defRPr sz="1700" b="0">
                <a:solidFill>
                  <a:srgbClr val="586A7A"/>
                </a:solidFill>
                <a:latin typeface="Arial"/>
              </a:defRPr>
            </a:pPr>
            <a:r>
              <a:t>recorded flows</a:t>
            </a:r>
          </a:p>
        </p:txBody>
      </p:sp>
      <p:sp>
        <p:nvSpPr>
          <p:cNvPr id="12" name="Rounded Rectangle 11"/>
          <p:cNvSpPr/>
          <p:nvPr/>
        </p:nvSpPr>
        <p:spPr>
          <a:xfrm>
            <a:off x="4389120" y="3977639"/>
            <a:ext cx="3383280" cy="132588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4197096"/>
            <a:ext cx="3017520" cy="594360"/>
          </a:xfrm>
          <a:prstGeom prst="rect">
            <a:avLst/>
          </a:prstGeom>
          <a:noFill/>
        </p:spPr>
        <p:txBody>
          <a:bodyPr wrap="square" lIns="0" rIns="0" tIns="0" bIns="0">
            <a:spAutoFit/>
          </a:bodyPr>
          <a:lstStyle/>
          <a:p>
            <a:pPr>
              <a:spcAft>
                <a:spcPts val="600"/>
              </a:spcAft>
              <a:defRPr sz="3600" b="1">
                <a:solidFill>
                  <a:srgbClr val="0072B2"/>
                </a:solidFill>
                <a:latin typeface="Arial"/>
              </a:defRPr>
            </a:pPr>
            <a:r>
              <a:t>13</a:t>
            </a:r>
          </a:p>
        </p:txBody>
      </p:sp>
      <p:sp>
        <p:nvSpPr>
          <p:cNvPr id="14" name="TextBox 13"/>
          <p:cNvSpPr txBox="1"/>
          <p:nvPr/>
        </p:nvSpPr>
        <p:spPr>
          <a:xfrm>
            <a:off x="4590288" y="4828032"/>
            <a:ext cx="3017520" cy="301752"/>
          </a:xfrm>
          <a:prstGeom prst="rect">
            <a:avLst/>
          </a:prstGeom>
          <a:noFill/>
        </p:spPr>
        <p:txBody>
          <a:bodyPr wrap="square" lIns="0" rIns="0" tIns="0" bIns="0">
            <a:spAutoFit/>
          </a:bodyPr>
          <a:lstStyle/>
          <a:p>
            <a:pPr>
              <a:spcAft>
                <a:spcPts val="600"/>
              </a:spcAft>
              <a:defRPr sz="1700" b="0">
                <a:solidFill>
                  <a:srgbClr val="586A7A"/>
                </a:solidFill>
                <a:latin typeface="Arial"/>
              </a:defRPr>
            </a:pPr>
            <a:r>
              <a:t>selected features</a:t>
            </a:r>
          </a:p>
        </p:txBody>
      </p:sp>
      <p:sp>
        <p:nvSpPr>
          <p:cNvPr id="15" name="Rounded Rectangle 14"/>
          <p:cNvSpPr/>
          <p:nvPr/>
        </p:nvSpPr>
        <p:spPr>
          <a:xfrm>
            <a:off x="8229600" y="3977639"/>
            <a:ext cx="3383280" cy="132588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4197096"/>
            <a:ext cx="3017520" cy="594360"/>
          </a:xfrm>
          <a:prstGeom prst="rect">
            <a:avLst/>
          </a:prstGeom>
          <a:noFill/>
        </p:spPr>
        <p:txBody>
          <a:bodyPr wrap="square" lIns="0" rIns="0" tIns="0" bIns="0">
            <a:spAutoFit/>
          </a:bodyPr>
          <a:lstStyle/>
          <a:p>
            <a:pPr>
              <a:spcAft>
                <a:spcPts val="600"/>
              </a:spcAft>
              <a:defRPr sz="3600" b="1">
                <a:solidFill>
                  <a:srgbClr val="0072B2"/>
                </a:solidFill>
                <a:latin typeface="Arial"/>
              </a:defRPr>
            </a:pPr>
            <a:r>
              <a:t>15.0%</a:t>
            </a:r>
          </a:p>
        </p:txBody>
      </p:sp>
      <p:sp>
        <p:nvSpPr>
          <p:cNvPr id="17" name="TextBox 16"/>
          <p:cNvSpPr txBox="1"/>
          <p:nvPr/>
        </p:nvSpPr>
        <p:spPr>
          <a:xfrm>
            <a:off x="8430768" y="4828032"/>
            <a:ext cx="3017520" cy="301752"/>
          </a:xfrm>
          <a:prstGeom prst="rect">
            <a:avLst/>
          </a:prstGeom>
          <a:noFill/>
        </p:spPr>
        <p:txBody>
          <a:bodyPr wrap="square" lIns="0" rIns="0" tIns="0" bIns="0">
            <a:spAutoFit/>
          </a:bodyPr>
          <a:lstStyle/>
          <a:p>
            <a:pPr>
              <a:spcAft>
                <a:spcPts val="600"/>
              </a:spcAft>
              <a:defRPr sz="1700" b="0">
                <a:solidFill>
                  <a:srgbClr val="586A7A"/>
                </a:solidFill>
                <a:latin typeface="Arial"/>
              </a:defRPr>
            </a:pPr>
            <a:r>
              <a:t>DoS-labeled flows</a:t>
            </a:r>
          </a:p>
        </p:txBody>
      </p:sp>
      <p:sp>
        <p:nvSpPr>
          <p:cNvPr id="18" name="TextBox 17"/>
          <p:cNvSpPr txBox="1"/>
          <p:nvPr/>
        </p:nvSpPr>
        <p:spPr>
          <a:xfrm>
            <a:off x="548640" y="5897880"/>
            <a:ext cx="10058400" cy="320040"/>
          </a:xfrm>
          <a:prstGeom prst="rect">
            <a:avLst/>
          </a:prstGeom>
          <a:noFill/>
        </p:spPr>
        <p:txBody>
          <a:bodyPr wrap="square" lIns="0" rIns="0" tIns="0" bIns="0">
            <a:spAutoFit/>
          </a:bodyPr>
          <a:lstStyle/>
          <a:p>
            <a:pPr>
              <a:spcAft>
                <a:spcPts val="600"/>
              </a:spcAft>
              <a:defRPr sz="1600" b="0">
                <a:solidFill>
                  <a:srgbClr val="586A7A"/>
                </a:solidFill>
                <a:latin typeface="Arial"/>
              </a:defRPr>
            </a:pPr>
            <a:r>
              <a:t>Combined dataset · No model fitting · 31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PROBLEM CONTEXT</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One row summarizes a network exchange</a:t>
            </a:r>
          </a:p>
        </p:txBody>
      </p:sp>
      <p:sp>
        <p:nvSpPr>
          <p:cNvPr id="5" name="TextBox 4"/>
          <p:cNvSpPr txBox="1"/>
          <p:nvPr/>
        </p:nvSpPr>
        <p:spPr>
          <a:xfrm>
            <a:off x="530352" y="1389888"/>
            <a:ext cx="10972800" cy="502920"/>
          </a:xfrm>
          <a:prstGeom prst="rect">
            <a:avLst/>
          </a:prstGeom>
          <a:noFill/>
        </p:spPr>
        <p:txBody>
          <a:bodyPr wrap="square" lIns="0" rIns="0" tIns="0" bIns="0">
            <a:spAutoFit/>
          </a:bodyPr>
          <a:lstStyle/>
          <a:p>
            <a:pPr>
              <a:spcAft>
                <a:spcPts val="600"/>
              </a:spcAft>
              <a:defRPr sz="1700" b="0">
                <a:solidFill>
                  <a:srgbClr val="586A7A"/>
                </a:solidFill>
                <a:latin typeface="Arial"/>
              </a:defRPr>
            </a:pPr>
            <a:r>
              <a:t>DoS threatens service availability. Heavy traffic can also be legitimate.</a:t>
            </a:r>
          </a:p>
        </p:txBody>
      </p:sp>
      <p:sp>
        <p:nvSpPr>
          <p:cNvPr id="6" name="TextBox 5"/>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7" name="TextBox 6"/>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02</a:t>
            </a:r>
          </a:p>
        </p:txBody>
      </p:sp>
      <p:sp>
        <p:nvSpPr>
          <p:cNvPr id="8" name="Rounded Rectangle 7"/>
          <p:cNvSpPr/>
          <p:nvPr/>
        </p:nvSpPr>
        <p:spPr>
          <a:xfrm>
            <a:off x="777240" y="2331720"/>
            <a:ext cx="2743200" cy="137160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41080" y="2331720"/>
            <a:ext cx="2743200" cy="137160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660904"/>
            <a:ext cx="2194560" cy="548640"/>
          </a:xfrm>
          <a:prstGeom prst="rect">
            <a:avLst/>
          </a:prstGeom>
          <a:noFill/>
        </p:spPr>
        <p:txBody>
          <a:bodyPr wrap="square" lIns="0" rIns="0" tIns="0" bIns="0">
            <a:spAutoFit/>
          </a:bodyPr>
          <a:lstStyle/>
          <a:p>
            <a:pPr algn="ctr">
              <a:spcAft>
                <a:spcPts val="600"/>
              </a:spcAft>
              <a:defRPr sz="3000" b="1">
                <a:solidFill>
                  <a:srgbClr val="152C43"/>
                </a:solidFill>
                <a:latin typeface="Arial"/>
              </a:defRPr>
            </a:pPr>
            <a:r>
              <a:t>Source</a:t>
            </a:r>
          </a:p>
        </p:txBody>
      </p:sp>
      <p:sp>
        <p:nvSpPr>
          <p:cNvPr id="11" name="TextBox 10"/>
          <p:cNvSpPr txBox="1"/>
          <p:nvPr/>
        </p:nvSpPr>
        <p:spPr>
          <a:xfrm>
            <a:off x="8823960" y="2660904"/>
            <a:ext cx="2377440" cy="548640"/>
          </a:xfrm>
          <a:prstGeom prst="rect">
            <a:avLst/>
          </a:prstGeom>
          <a:noFill/>
        </p:spPr>
        <p:txBody>
          <a:bodyPr wrap="square" lIns="0" rIns="0" tIns="0" bIns="0">
            <a:spAutoFit/>
          </a:bodyPr>
          <a:lstStyle/>
          <a:p>
            <a:pPr algn="ctr">
              <a:spcAft>
                <a:spcPts val="600"/>
              </a:spcAft>
              <a:defRPr sz="3000" b="1">
                <a:solidFill>
                  <a:srgbClr val="152C43"/>
                </a:solidFill>
                <a:latin typeface="Arial"/>
              </a:defRPr>
            </a:pPr>
            <a:r>
              <a:t>Destination</a:t>
            </a:r>
          </a:p>
        </p:txBody>
      </p:sp>
      <p:sp>
        <p:nvSpPr>
          <p:cNvPr id="12" name="Rectangle 11"/>
          <p:cNvSpPr/>
          <p:nvPr/>
        </p:nvSpPr>
        <p:spPr>
          <a:xfrm>
            <a:off x="3794760" y="2697480"/>
            <a:ext cx="4160520" cy="45720"/>
          </a:xfrm>
          <a:prstGeom prst="rect">
            <a:avLst/>
          </a:prstGeom>
          <a:solidFill>
            <a:srgbClr val="586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evron 12"/>
          <p:cNvSpPr/>
          <p:nvPr/>
        </p:nvSpPr>
        <p:spPr>
          <a:xfrm>
            <a:off x="7927848" y="2578608"/>
            <a:ext cx="320040" cy="292608"/>
          </a:xfrm>
          <a:prstGeom prst="chevron">
            <a:avLst/>
          </a:prstGeom>
          <a:solidFill>
            <a:srgbClr val="586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06240" y="3337560"/>
            <a:ext cx="4160520" cy="45720"/>
          </a:xfrm>
          <a:prstGeom prst="rect">
            <a:avLst/>
          </a:prstGeom>
          <a:solidFill>
            <a:srgbClr val="586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hevron 14"/>
          <p:cNvSpPr/>
          <p:nvPr/>
        </p:nvSpPr>
        <p:spPr>
          <a:xfrm rot="10800000">
            <a:off x="3840480" y="3209544"/>
            <a:ext cx="320040" cy="292608"/>
          </a:xfrm>
          <a:prstGeom prst="chevron">
            <a:avLst/>
          </a:prstGeom>
          <a:solidFill>
            <a:srgbClr val="586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94760" y="2148840"/>
            <a:ext cx="4389120" cy="365760"/>
          </a:xfrm>
          <a:prstGeom prst="rect">
            <a:avLst/>
          </a:prstGeom>
          <a:noFill/>
        </p:spPr>
        <p:txBody>
          <a:bodyPr wrap="square" lIns="0" rIns="0" tIns="0" bIns="0">
            <a:spAutoFit/>
          </a:bodyPr>
          <a:lstStyle/>
          <a:p>
            <a:pPr algn="ctr">
              <a:spcAft>
                <a:spcPts val="600"/>
              </a:spcAft>
              <a:defRPr sz="2000" b="0">
                <a:solidFill>
                  <a:srgbClr val="152C43"/>
                </a:solidFill>
                <a:latin typeface="Arial"/>
              </a:defRPr>
            </a:pPr>
            <a:r>
              <a:t>Packets + bytes sent</a:t>
            </a:r>
          </a:p>
        </p:txBody>
      </p:sp>
      <p:sp>
        <p:nvSpPr>
          <p:cNvPr id="17" name="TextBox 16"/>
          <p:cNvSpPr txBox="1"/>
          <p:nvPr/>
        </p:nvSpPr>
        <p:spPr>
          <a:xfrm>
            <a:off x="3794760" y="3685032"/>
            <a:ext cx="4389120" cy="411480"/>
          </a:xfrm>
          <a:prstGeom prst="rect">
            <a:avLst/>
          </a:prstGeom>
          <a:noFill/>
        </p:spPr>
        <p:txBody>
          <a:bodyPr wrap="square" lIns="0" rIns="0" tIns="0" bIns="0">
            <a:spAutoFit/>
          </a:bodyPr>
          <a:lstStyle/>
          <a:p>
            <a:pPr algn="ctr">
              <a:spcAft>
                <a:spcPts val="600"/>
              </a:spcAft>
              <a:defRPr sz="2000" b="0">
                <a:solidFill>
                  <a:srgbClr val="152C43"/>
                </a:solidFill>
                <a:latin typeface="Arial"/>
              </a:defRPr>
            </a:pPr>
            <a:r>
              <a:t>Packets + bytes returned</a:t>
            </a:r>
          </a:p>
        </p:txBody>
      </p:sp>
      <p:sp>
        <p:nvSpPr>
          <p:cNvPr id="18" name="TextBox 17"/>
          <p:cNvSpPr txBox="1"/>
          <p:nvPr/>
        </p:nvSpPr>
        <p:spPr>
          <a:xfrm>
            <a:off x="914400" y="4754880"/>
            <a:ext cx="10332720" cy="457200"/>
          </a:xfrm>
          <a:prstGeom prst="rect">
            <a:avLst/>
          </a:prstGeom>
          <a:noFill/>
        </p:spPr>
        <p:txBody>
          <a:bodyPr wrap="square" lIns="0" rIns="0" tIns="0" bIns="0">
            <a:spAutoFit/>
          </a:bodyPr>
          <a:lstStyle/>
          <a:p>
            <a:pPr algn="ctr">
              <a:spcAft>
                <a:spcPts val="600"/>
              </a:spcAft>
              <a:defRPr sz="2400" b="1">
                <a:solidFill>
                  <a:srgbClr val="0072B2"/>
                </a:solidFill>
                <a:latin typeface="Arial"/>
              </a:defRPr>
            </a:pPr>
            <a:r>
              <a:t>Duration · packet rate · time between packets</a:t>
            </a:r>
          </a:p>
        </p:txBody>
      </p:sp>
      <p:sp>
        <p:nvSpPr>
          <p:cNvPr id="19" name="Rounded Rectangle 18"/>
          <p:cNvSpPr/>
          <p:nvPr/>
        </p:nvSpPr>
        <p:spPr>
          <a:xfrm>
            <a:off x="502920" y="5833872"/>
            <a:ext cx="11155680" cy="475488"/>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5934456"/>
            <a:ext cx="10789920" cy="274320"/>
          </a:xfrm>
          <a:prstGeom prst="rect">
            <a:avLst/>
          </a:prstGeom>
          <a:noFill/>
        </p:spPr>
        <p:txBody>
          <a:bodyPr wrap="square" lIns="0" rIns="0" tIns="0" bIns="0">
            <a:spAutoFit/>
          </a:bodyPr>
          <a:lstStyle/>
          <a:p>
            <a:pPr>
              <a:spcAft>
                <a:spcPts val="600"/>
              </a:spcAft>
              <a:defRPr sz="1800" b="1">
                <a:solidFill>
                  <a:srgbClr val="152C43"/>
                </a:solidFill>
                <a:latin typeface="Arial"/>
              </a:defRPr>
            </a:pPr>
            <a:r>
              <a:t>One flow can look unusual; this view does not measure a server outage.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FEATURE UNDERSTANDING</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13 features describe four aspects of a flow</a:t>
            </a:r>
          </a:p>
        </p:txBody>
      </p:sp>
      <p:sp>
        <p:nvSpPr>
          <p:cNvPr id="5" name="TextBox 4"/>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6" name="TextBox 5"/>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03</a:t>
            </a:r>
          </a:p>
        </p:txBody>
      </p:sp>
      <p:sp>
        <p:nvSpPr>
          <p:cNvPr id="7" name="Rounded Rectangle 6"/>
          <p:cNvSpPr/>
          <p:nvPr/>
        </p:nvSpPr>
        <p:spPr>
          <a:xfrm>
            <a:off x="594360" y="1828800"/>
            <a:ext cx="5303520" cy="141732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28800"/>
            <a:ext cx="64008" cy="14173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39112"/>
            <a:ext cx="4754880" cy="438912"/>
          </a:xfrm>
          <a:prstGeom prst="rect">
            <a:avLst/>
          </a:prstGeom>
          <a:noFill/>
        </p:spPr>
        <p:txBody>
          <a:bodyPr wrap="square" lIns="0" rIns="0" tIns="0" bIns="0">
            <a:spAutoFit/>
          </a:bodyPr>
          <a:lstStyle/>
          <a:p>
            <a:pPr>
              <a:spcAft>
                <a:spcPts val="600"/>
              </a:spcAft>
              <a:defRPr sz="2700" b="1">
                <a:solidFill>
                  <a:srgbClr val="152C43"/>
                </a:solidFill>
                <a:latin typeface="Arial"/>
              </a:defRPr>
            </a:pPr>
            <a:r>
              <a:t>Type</a:t>
            </a:r>
          </a:p>
        </p:txBody>
      </p:sp>
      <p:sp>
        <p:nvSpPr>
          <p:cNvPr id="10" name="TextBox 9"/>
          <p:cNvSpPr txBox="1"/>
          <p:nvPr/>
        </p:nvSpPr>
        <p:spPr>
          <a:xfrm>
            <a:off x="822960" y="2633472"/>
            <a:ext cx="4663440" cy="411480"/>
          </a:xfrm>
          <a:prstGeom prst="rect">
            <a:avLst/>
          </a:prstGeom>
          <a:noFill/>
        </p:spPr>
        <p:txBody>
          <a:bodyPr wrap="square" lIns="0" rIns="0" tIns="0" bIns="0">
            <a:spAutoFit/>
          </a:bodyPr>
          <a:lstStyle/>
          <a:p>
            <a:pPr>
              <a:spcAft>
                <a:spcPts val="600"/>
              </a:spcAft>
              <a:defRPr sz="2000" b="0">
                <a:solidFill>
                  <a:srgbClr val="586A7A"/>
                </a:solidFill>
                <a:latin typeface="Arial"/>
              </a:defRPr>
            </a:pPr>
            <a:r>
              <a:t>Protocol · service · state</a:t>
            </a:r>
          </a:p>
        </p:txBody>
      </p:sp>
      <p:sp>
        <p:nvSpPr>
          <p:cNvPr id="11" name="Rounded Rectangle 10"/>
          <p:cNvSpPr/>
          <p:nvPr/>
        </p:nvSpPr>
        <p:spPr>
          <a:xfrm>
            <a:off x="6263640" y="1828800"/>
            <a:ext cx="5303520" cy="141732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828800"/>
            <a:ext cx="64008" cy="14173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039112"/>
            <a:ext cx="4754880" cy="438912"/>
          </a:xfrm>
          <a:prstGeom prst="rect">
            <a:avLst/>
          </a:prstGeom>
          <a:noFill/>
        </p:spPr>
        <p:txBody>
          <a:bodyPr wrap="square" lIns="0" rIns="0" tIns="0" bIns="0">
            <a:spAutoFit/>
          </a:bodyPr>
          <a:lstStyle/>
          <a:p>
            <a:pPr>
              <a:spcAft>
                <a:spcPts val="600"/>
              </a:spcAft>
              <a:defRPr sz="2700" b="1">
                <a:solidFill>
                  <a:srgbClr val="152C43"/>
                </a:solidFill>
                <a:latin typeface="Arial"/>
              </a:defRPr>
            </a:pPr>
            <a:r>
              <a:t>Volume</a:t>
            </a:r>
          </a:p>
        </p:txBody>
      </p:sp>
      <p:sp>
        <p:nvSpPr>
          <p:cNvPr id="14" name="TextBox 13"/>
          <p:cNvSpPr txBox="1"/>
          <p:nvPr/>
        </p:nvSpPr>
        <p:spPr>
          <a:xfrm>
            <a:off x="6492240" y="2633472"/>
            <a:ext cx="4663440" cy="411480"/>
          </a:xfrm>
          <a:prstGeom prst="rect">
            <a:avLst/>
          </a:prstGeom>
          <a:noFill/>
        </p:spPr>
        <p:txBody>
          <a:bodyPr wrap="square" lIns="0" rIns="0" tIns="0" bIns="0">
            <a:spAutoFit/>
          </a:bodyPr>
          <a:lstStyle/>
          <a:p>
            <a:pPr>
              <a:spcAft>
                <a:spcPts val="600"/>
              </a:spcAft>
              <a:defRPr sz="2000" b="0">
                <a:solidFill>
                  <a:srgbClr val="586A7A"/>
                </a:solidFill>
                <a:latin typeface="Arial"/>
              </a:defRPr>
            </a:pPr>
            <a:r>
              <a:t>Packets and bytes in each direction</a:t>
            </a:r>
          </a:p>
        </p:txBody>
      </p:sp>
      <p:sp>
        <p:nvSpPr>
          <p:cNvPr id="15" name="Rounded Rectangle 14"/>
          <p:cNvSpPr/>
          <p:nvPr/>
        </p:nvSpPr>
        <p:spPr>
          <a:xfrm>
            <a:off x="594360" y="3657600"/>
            <a:ext cx="5303520" cy="141732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657600"/>
            <a:ext cx="64008" cy="14173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867912"/>
            <a:ext cx="4754880" cy="438912"/>
          </a:xfrm>
          <a:prstGeom prst="rect">
            <a:avLst/>
          </a:prstGeom>
          <a:noFill/>
        </p:spPr>
        <p:txBody>
          <a:bodyPr wrap="square" lIns="0" rIns="0" tIns="0" bIns="0">
            <a:spAutoFit/>
          </a:bodyPr>
          <a:lstStyle/>
          <a:p>
            <a:pPr>
              <a:spcAft>
                <a:spcPts val="600"/>
              </a:spcAft>
              <a:defRPr sz="2700" b="1">
                <a:solidFill>
                  <a:srgbClr val="152C43"/>
                </a:solidFill>
                <a:latin typeface="Arial"/>
              </a:defRPr>
            </a:pPr>
            <a:r>
              <a:t>Speed</a:t>
            </a:r>
          </a:p>
        </p:txBody>
      </p:sp>
      <p:sp>
        <p:nvSpPr>
          <p:cNvPr id="18" name="TextBox 17"/>
          <p:cNvSpPr txBox="1"/>
          <p:nvPr/>
        </p:nvSpPr>
        <p:spPr>
          <a:xfrm>
            <a:off x="822960" y="4462272"/>
            <a:ext cx="4663440" cy="411480"/>
          </a:xfrm>
          <a:prstGeom prst="rect">
            <a:avLst/>
          </a:prstGeom>
          <a:noFill/>
        </p:spPr>
        <p:txBody>
          <a:bodyPr wrap="square" lIns="0" rIns="0" tIns="0" bIns="0">
            <a:spAutoFit/>
          </a:bodyPr>
          <a:lstStyle/>
          <a:p>
            <a:pPr>
              <a:spcAft>
                <a:spcPts val="600"/>
              </a:spcAft>
              <a:defRPr sz="2000" b="0">
                <a:solidFill>
                  <a:srgbClr val="586A7A"/>
                </a:solidFill>
                <a:latin typeface="Arial"/>
              </a:defRPr>
            </a:pPr>
            <a:r>
              <a:t>Packet rate · directional loads</a:t>
            </a:r>
          </a:p>
        </p:txBody>
      </p:sp>
      <p:sp>
        <p:nvSpPr>
          <p:cNvPr id="19" name="Rounded Rectangle 18"/>
          <p:cNvSpPr/>
          <p:nvPr/>
        </p:nvSpPr>
        <p:spPr>
          <a:xfrm>
            <a:off x="6263640" y="3657600"/>
            <a:ext cx="5303520" cy="141732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3657600"/>
            <a:ext cx="64008" cy="141732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3867912"/>
            <a:ext cx="4754880" cy="438912"/>
          </a:xfrm>
          <a:prstGeom prst="rect">
            <a:avLst/>
          </a:prstGeom>
          <a:noFill/>
        </p:spPr>
        <p:txBody>
          <a:bodyPr wrap="square" lIns="0" rIns="0" tIns="0" bIns="0">
            <a:spAutoFit/>
          </a:bodyPr>
          <a:lstStyle/>
          <a:p>
            <a:pPr>
              <a:spcAft>
                <a:spcPts val="600"/>
              </a:spcAft>
              <a:defRPr sz="2700" b="1">
                <a:solidFill>
                  <a:srgbClr val="152C43"/>
                </a:solidFill>
                <a:latin typeface="Arial"/>
              </a:defRPr>
            </a:pPr>
            <a:r>
              <a:t>Timing</a:t>
            </a:r>
          </a:p>
        </p:txBody>
      </p:sp>
      <p:sp>
        <p:nvSpPr>
          <p:cNvPr id="22" name="TextBox 21"/>
          <p:cNvSpPr txBox="1"/>
          <p:nvPr/>
        </p:nvSpPr>
        <p:spPr>
          <a:xfrm>
            <a:off x="6492240" y="4462272"/>
            <a:ext cx="4663440" cy="411480"/>
          </a:xfrm>
          <a:prstGeom prst="rect">
            <a:avLst/>
          </a:prstGeom>
          <a:noFill/>
        </p:spPr>
        <p:txBody>
          <a:bodyPr wrap="square" lIns="0" rIns="0" tIns="0" bIns="0">
            <a:spAutoFit/>
          </a:bodyPr>
          <a:lstStyle/>
          <a:p>
            <a:pPr>
              <a:spcAft>
                <a:spcPts val="600"/>
              </a:spcAft>
              <a:defRPr sz="2000" b="0">
                <a:solidFill>
                  <a:srgbClr val="586A7A"/>
                </a:solidFill>
                <a:latin typeface="Arial"/>
              </a:defRPr>
            </a:pPr>
            <a:r>
              <a:t>Duration · directional packet gaps</a:t>
            </a:r>
          </a:p>
        </p:txBody>
      </p:sp>
      <p:sp>
        <p:nvSpPr>
          <p:cNvPr id="23" name="Rounded Rectangle 22"/>
          <p:cNvSpPr/>
          <p:nvPr/>
        </p:nvSpPr>
        <p:spPr>
          <a:xfrm>
            <a:off x="502920" y="5833872"/>
            <a:ext cx="11155680" cy="475488"/>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5934456"/>
            <a:ext cx="10789920" cy="274320"/>
          </a:xfrm>
          <a:prstGeom prst="rect">
            <a:avLst/>
          </a:prstGeom>
          <a:noFill/>
        </p:spPr>
        <p:txBody>
          <a:bodyPr wrap="square" lIns="0" rIns="0" tIns="0" bIns="0">
            <a:spAutoFit/>
          </a:bodyPr>
          <a:lstStyle/>
          <a:p>
            <a:pPr>
              <a:spcAft>
                <a:spcPts val="600"/>
              </a:spcAft>
              <a:defRPr sz="1800" b="1">
                <a:solidFill>
                  <a:srgbClr val="152C43"/>
                </a:solidFill>
                <a:latin typeface="Arial"/>
              </a:defRPr>
            </a:pPr>
            <a:r>
              <a:t>Features were selected for their network meaning—not by a fitted model.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WORK PERFORMED</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We followed the class exploration approach</a:t>
            </a:r>
          </a:p>
        </p:txBody>
      </p:sp>
      <p:sp>
        <p:nvSpPr>
          <p:cNvPr id="5" name="TextBox 4"/>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6" name="TextBox 5"/>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04</a:t>
            </a:r>
          </a:p>
        </p:txBody>
      </p:sp>
      <p:sp>
        <p:nvSpPr>
          <p:cNvPr id="7" name="Rounded Rectangle 6"/>
          <p:cNvSpPr/>
          <p:nvPr/>
        </p:nvSpPr>
        <p:spPr>
          <a:xfrm>
            <a:off x="548640" y="2286000"/>
            <a:ext cx="2697480" cy="237744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450592"/>
            <a:ext cx="2286000" cy="502920"/>
          </a:xfrm>
          <a:prstGeom prst="rect">
            <a:avLst/>
          </a:prstGeom>
          <a:noFill/>
        </p:spPr>
        <p:txBody>
          <a:bodyPr wrap="square" lIns="0" rIns="0" tIns="0" bIns="0">
            <a:spAutoFit/>
          </a:bodyPr>
          <a:lstStyle/>
          <a:p>
            <a:pPr>
              <a:spcAft>
                <a:spcPts val="600"/>
              </a:spcAft>
              <a:defRPr sz="3000" b="1">
                <a:solidFill>
                  <a:srgbClr val="0072B2"/>
                </a:solidFill>
                <a:latin typeface="Arial"/>
              </a:defRPr>
            </a:pPr>
            <a:r>
              <a:t>1</a:t>
            </a:r>
          </a:p>
        </p:txBody>
      </p:sp>
      <p:sp>
        <p:nvSpPr>
          <p:cNvPr id="9" name="TextBox 8"/>
          <p:cNvSpPr txBox="1"/>
          <p:nvPr/>
        </p:nvSpPr>
        <p:spPr>
          <a:xfrm>
            <a:off x="731520" y="3136392"/>
            <a:ext cx="2286000" cy="457200"/>
          </a:xfrm>
          <a:prstGeom prst="rect">
            <a:avLst/>
          </a:prstGeom>
          <a:noFill/>
        </p:spPr>
        <p:txBody>
          <a:bodyPr wrap="square" lIns="0" rIns="0" tIns="0" bIns="0">
            <a:spAutoFit/>
          </a:bodyPr>
          <a:lstStyle/>
          <a:p>
            <a:pPr>
              <a:spcAft>
                <a:spcPts val="600"/>
              </a:spcAft>
              <a:defRPr sz="2500" b="1">
                <a:solidFill>
                  <a:srgbClr val="152C43"/>
                </a:solidFill>
                <a:latin typeface="Arial"/>
              </a:defRPr>
            </a:pPr>
            <a:r>
              <a:t>Inspect</a:t>
            </a:r>
          </a:p>
        </p:txBody>
      </p:sp>
      <p:sp>
        <p:nvSpPr>
          <p:cNvPr id="10" name="TextBox 9"/>
          <p:cNvSpPr txBox="1"/>
          <p:nvPr/>
        </p:nvSpPr>
        <p:spPr>
          <a:xfrm>
            <a:off x="731520" y="3749039"/>
            <a:ext cx="2286000" cy="685800"/>
          </a:xfrm>
          <a:prstGeom prst="rect">
            <a:avLst/>
          </a:prstGeom>
          <a:noFill/>
        </p:spPr>
        <p:txBody>
          <a:bodyPr wrap="square" lIns="0" rIns="0" tIns="0" bIns="0">
            <a:spAutoFit/>
          </a:bodyPr>
          <a:lstStyle/>
          <a:p>
            <a:pPr>
              <a:spcAft>
                <a:spcPts val="600"/>
              </a:spcAft>
              <a:defRPr sz="1800" b="0">
                <a:solidFill>
                  <a:srgbClr val="586A7A"/>
                </a:solidFill>
                <a:latin typeface="Arial"/>
              </a:defRPr>
            </a:pPr>
            <a:r>
              <a:t>Meaning, units, missing values</a:t>
            </a:r>
          </a:p>
        </p:txBody>
      </p:sp>
      <p:sp>
        <p:nvSpPr>
          <p:cNvPr id="11" name="Rounded Rectangle 10"/>
          <p:cNvSpPr/>
          <p:nvPr/>
        </p:nvSpPr>
        <p:spPr>
          <a:xfrm>
            <a:off x="3456432" y="2286000"/>
            <a:ext cx="2697480" cy="237744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9312" y="2450592"/>
            <a:ext cx="2286000" cy="502920"/>
          </a:xfrm>
          <a:prstGeom prst="rect">
            <a:avLst/>
          </a:prstGeom>
          <a:noFill/>
        </p:spPr>
        <p:txBody>
          <a:bodyPr wrap="square" lIns="0" rIns="0" tIns="0" bIns="0">
            <a:spAutoFit/>
          </a:bodyPr>
          <a:lstStyle/>
          <a:p>
            <a:pPr>
              <a:spcAft>
                <a:spcPts val="600"/>
              </a:spcAft>
              <a:defRPr sz="3000" b="1">
                <a:solidFill>
                  <a:srgbClr val="0072B2"/>
                </a:solidFill>
                <a:latin typeface="Arial"/>
              </a:defRPr>
            </a:pPr>
            <a:r>
              <a:t>2</a:t>
            </a:r>
          </a:p>
        </p:txBody>
      </p:sp>
      <p:sp>
        <p:nvSpPr>
          <p:cNvPr id="13" name="TextBox 12"/>
          <p:cNvSpPr txBox="1"/>
          <p:nvPr/>
        </p:nvSpPr>
        <p:spPr>
          <a:xfrm>
            <a:off x="3639312" y="3136392"/>
            <a:ext cx="2286000" cy="457200"/>
          </a:xfrm>
          <a:prstGeom prst="rect">
            <a:avLst/>
          </a:prstGeom>
          <a:noFill/>
        </p:spPr>
        <p:txBody>
          <a:bodyPr wrap="square" lIns="0" rIns="0" tIns="0" bIns="0">
            <a:spAutoFit/>
          </a:bodyPr>
          <a:lstStyle/>
          <a:p>
            <a:pPr>
              <a:spcAft>
                <a:spcPts val="600"/>
              </a:spcAft>
              <a:defRPr sz="2500" b="1">
                <a:solidFill>
                  <a:srgbClr val="152C43"/>
                </a:solidFill>
                <a:latin typeface="Arial"/>
              </a:defRPr>
            </a:pPr>
            <a:r>
              <a:t>Plot</a:t>
            </a:r>
          </a:p>
        </p:txBody>
      </p:sp>
      <p:sp>
        <p:nvSpPr>
          <p:cNvPr id="14" name="TextBox 13"/>
          <p:cNvSpPr txBox="1"/>
          <p:nvPr/>
        </p:nvSpPr>
        <p:spPr>
          <a:xfrm>
            <a:off x="3639312" y="3749039"/>
            <a:ext cx="2286000" cy="685800"/>
          </a:xfrm>
          <a:prstGeom prst="rect">
            <a:avLst/>
          </a:prstGeom>
          <a:noFill/>
        </p:spPr>
        <p:txBody>
          <a:bodyPr wrap="square" lIns="0" rIns="0" tIns="0" bIns="0">
            <a:spAutoFit/>
          </a:bodyPr>
          <a:lstStyle/>
          <a:p>
            <a:pPr>
              <a:spcAft>
                <a:spcPts val="600"/>
              </a:spcAft>
              <a:defRPr sz="1800" b="0">
                <a:solidFill>
                  <a:srgbClr val="586A7A"/>
                </a:solidFill>
                <a:latin typeface="Arial"/>
              </a:defRPr>
            </a:pPr>
            <a:r>
              <a:t>Histograms and simple scatterplots</a:t>
            </a:r>
          </a:p>
        </p:txBody>
      </p:sp>
      <p:sp>
        <p:nvSpPr>
          <p:cNvPr id="15" name="Rounded Rectangle 14"/>
          <p:cNvSpPr/>
          <p:nvPr/>
        </p:nvSpPr>
        <p:spPr>
          <a:xfrm>
            <a:off x="6364224" y="2286000"/>
            <a:ext cx="2697480" cy="237744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7104" y="2450592"/>
            <a:ext cx="2286000" cy="502920"/>
          </a:xfrm>
          <a:prstGeom prst="rect">
            <a:avLst/>
          </a:prstGeom>
          <a:noFill/>
        </p:spPr>
        <p:txBody>
          <a:bodyPr wrap="square" lIns="0" rIns="0" tIns="0" bIns="0">
            <a:spAutoFit/>
          </a:bodyPr>
          <a:lstStyle/>
          <a:p>
            <a:pPr>
              <a:spcAft>
                <a:spcPts val="600"/>
              </a:spcAft>
              <a:defRPr sz="3000" b="1">
                <a:solidFill>
                  <a:srgbClr val="0072B2"/>
                </a:solidFill>
                <a:latin typeface="Arial"/>
              </a:defRPr>
            </a:pPr>
            <a:r>
              <a:t>3</a:t>
            </a:r>
          </a:p>
        </p:txBody>
      </p:sp>
      <p:sp>
        <p:nvSpPr>
          <p:cNvPr id="17" name="TextBox 16"/>
          <p:cNvSpPr txBox="1"/>
          <p:nvPr/>
        </p:nvSpPr>
        <p:spPr>
          <a:xfrm>
            <a:off x="6547104" y="3136392"/>
            <a:ext cx="2286000" cy="457200"/>
          </a:xfrm>
          <a:prstGeom prst="rect">
            <a:avLst/>
          </a:prstGeom>
          <a:noFill/>
        </p:spPr>
        <p:txBody>
          <a:bodyPr wrap="square" lIns="0" rIns="0" tIns="0" bIns="0">
            <a:spAutoFit/>
          </a:bodyPr>
          <a:lstStyle/>
          <a:p>
            <a:pPr>
              <a:spcAft>
                <a:spcPts val="600"/>
              </a:spcAft>
              <a:defRPr sz="2500" b="1">
                <a:solidFill>
                  <a:srgbClr val="152C43"/>
                </a:solidFill>
                <a:latin typeface="Arial"/>
              </a:defRPr>
            </a:pPr>
            <a:r>
              <a:t>Compare</a:t>
            </a:r>
          </a:p>
        </p:txBody>
      </p:sp>
      <p:sp>
        <p:nvSpPr>
          <p:cNvPr id="18" name="TextBox 17"/>
          <p:cNvSpPr txBox="1"/>
          <p:nvPr/>
        </p:nvSpPr>
        <p:spPr>
          <a:xfrm>
            <a:off x="6547104" y="3749039"/>
            <a:ext cx="2286000" cy="685800"/>
          </a:xfrm>
          <a:prstGeom prst="rect">
            <a:avLst/>
          </a:prstGeom>
          <a:noFill/>
        </p:spPr>
        <p:txBody>
          <a:bodyPr wrap="square" lIns="0" rIns="0" tIns="0" bIns="0">
            <a:spAutoFit/>
          </a:bodyPr>
          <a:lstStyle/>
          <a:p>
            <a:pPr>
              <a:spcAft>
                <a:spcPts val="600"/>
              </a:spcAft>
              <a:defRPr sz="1800" b="0">
                <a:solidFill>
                  <a:srgbClr val="586A7A"/>
                </a:solidFill>
                <a:latin typeface="Arial"/>
              </a:defRPr>
            </a:pPr>
            <a:r>
              <a:t>Normal vs DoS; then within protocol</a:t>
            </a:r>
          </a:p>
        </p:txBody>
      </p:sp>
      <p:sp>
        <p:nvSpPr>
          <p:cNvPr id="19" name="Rounded Rectangle 18"/>
          <p:cNvSpPr/>
          <p:nvPr/>
        </p:nvSpPr>
        <p:spPr>
          <a:xfrm>
            <a:off x="9272016" y="2286000"/>
            <a:ext cx="2697480" cy="237744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54896" y="2450592"/>
            <a:ext cx="2286000" cy="502920"/>
          </a:xfrm>
          <a:prstGeom prst="rect">
            <a:avLst/>
          </a:prstGeom>
          <a:noFill/>
        </p:spPr>
        <p:txBody>
          <a:bodyPr wrap="square" lIns="0" rIns="0" tIns="0" bIns="0">
            <a:spAutoFit/>
          </a:bodyPr>
          <a:lstStyle/>
          <a:p>
            <a:pPr>
              <a:spcAft>
                <a:spcPts val="600"/>
              </a:spcAft>
              <a:defRPr sz="3000" b="1">
                <a:solidFill>
                  <a:srgbClr val="0072B2"/>
                </a:solidFill>
                <a:latin typeface="Arial"/>
              </a:defRPr>
            </a:pPr>
            <a:r>
              <a:t>4</a:t>
            </a:r>
          </a:p>
        </p:txBody>
      </p:sp>
      <p:sp>
        <p:nvSpPr>
          <p:cNvPr id="21" name="TextBox 20"/>
          <p:cNvSpPr txBox="1"/>
          <p:nvPr/>
        </p:nvSpPr>
        <p:spPr>
          <a:xfrm>
            <a:off x="9454896" y="3136392"/>
            <a:ext cx="2286000" cy="457200"/>
          </a:xfrm>
          <a:prstGeom prst="rect">
            <a:avLst/>
          </a:prstGeom>
          <a:noFill/>
        </p:spPr>
        <p:txBody>
          <a:bodyPr wrap="square" lIns="0" rIns="0" tIns="0" bIns="0">
            <a:spAutoFit/>
          </a:bodyPr>
          <a:lstStyle/>
          <a:p>
            <a:pPr>
              <a:spcAft>
                <a:spcPts val="600"/>
              </a:spcAft>
              <a:defRPr sz="2500" b="1">
                <a:solidFill>
                  <a:srgbClr val="152C43"/>
                </a:solidFill>
                <a:latin typeface="Arial"/>
              </a:defRPr>
            </a:pPr>
            <a:r>
              <a:t>Define</a:t>
            </a:r>
          </a:p>
        </p:txBody>
      </p:sp>
      <p:sp>
        <p:nvSpPr>
          <p:cNvPr id="22" name="TextBox 21"/>
          <p:cNvSpPr txBox="1"/>
          <p:nvPr/>
        </p:nvSpPr>
        <p:spPr>
          <a:xfrm>
            <a:off x="9454896" y="3749039"/>
            <a:ext cx="2286000" cy="685800"/>
          </a:xfrm>
          <a:prstGeom prst="rect">
            <a:avLst/>
          </a:prstGeom>
          <a:noFill/>
        </p:spPr>
        <p:txBody>
          <a:bodyPr wrap="square" lIns="0" rIns="0" tIns="0" bIns="0">
            <a:spAutoFit/>
          </a:bodyPr>
          <a:lstStyle/>
          <a:p>
            <a:pPr>
              <a:spcAft>
                <a:spcPts val="600"/>
              </a:spcAft>
              <a:defRPr sz="1800" b="0">
                <a:solidFill>
                  <a:srgbClr val="586A7A"/>
                </a:solidFill>
                <a:latin typeface="Arial"/>
              </a:defRPr>
            </a:pPr>
            <a:r>
              <a:t>A task the data can support</a:t>
            </a:r>
          </a:p>
        </p:txBody>
      </p:sp>
      <p:sp>
        <p:nvSpPr>
          <p:cNvPr id="23" name="Rounded Rectangle 22"/>
          <p:cNvSpPr/>
          <p:nvPr/>
        </p:nvSpPr>
        <p:spPr>
          <a:xfrm>
            <a:off x="502920" y="5833872"/>
            <a:ext cx="11155680" cy="475488"/>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5934456"/>
            <a:ext cx="10789920" cy="274320"/>
          </a:xfrm>
          <a:prstGeom prst="rect">
            <a:avLst/>
          </a:prstGeom>
          <a:noFill/>
        </p:spPr>
        <p:txBody>
          <a:bodyPr wrap="square" lIns="0" rIns="0" tIns="0" bIns="0">
            <a:spAutoFit/>
          </a:bodyPr>
          <a:lstStyle/>
          <a:p>
            <a:pPr>
              <a:spcAft>
                <a:spcPts val="600"/>
              </a:spcAft>
              <a:defRPr sz="1800" b="1">
                <a:solidFill>
                  <a:srgbClr val="152C43"/>
                </a:solidFill>
                <a:latin typeface="Arial"/>
              </a:defRPr>
            </a:pPr>
            <a:r>
              <a:t>Raw measurements first. Simple plots. Explain the observations before modeling.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DATASET</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Most records are Normal; about 15% are labeled DoS</a:t>
            </a:r>
          </a:p>
        </p:txBody>
      </p:sp>
      <p:sp>
        <p:nvSpPr>
          <p:cNvPr id="5" name="TextBox 4"/>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6" name="TextBox 5"/>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05</a:t>
            </a:r>
          </a:p>
        </p:txBody>
      </p:sp>
      <p:pic>
        <p:nvPicPr>
          <p:cNvPr id="7" name="Picture 6" descr="01_class_counts.png"/>
          <p:cNvPicPr>
            <a:picLocks noChangeAspect="1"/>
          </p:cNvPicPr>
          <p:nvPr/>
        </p:nvPicPr>
        <p:blipFill>
          <a:blip r:embed="rId2"/>
          <a:stretch>
            <a:fillRect/>
          </a:stretch>
        </p:blipFill>
        <p:spPr>
          <a:xfrm>
            <a:off x="1773295" y="1737360"/>
            <a:ext cx="8706369" cy="3749039"/>
          </a:xfrm>
          <a:prstGeom prst="rect">
            <a:avLst/>
          </a:prstGeom>
        </p:spPr>
      </p:pic>
      <p:sp>
        <p:nvSpPr>
          <p:cNvPr id="8" name="Rounded Rectangle 7"/>
          <p:cNvSpPr/>
          <p:nvPr/>
        </p:nvSpPr>
        <p:spPr>
          <a:xfrm>
            <a:off x="502920" y="5833872"/>
            <a:ext cx="11155680" cy="475488"/>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5934456"/>
            <a:ext cx="10789920" cy="274320"/>
          </a:xfrm>
          <a:prstGeom prst="rect">
            <a:avLst/>
          </a:prstGeom>
          <a:noFill/>
        </p:spPr>
        <p:txBody>
          <a:bodyPr wrap="square" lIns="0" rIns="0" tIns="0" bIns="0">
            <a:spAutoFit/>
          </a:bodyPr>
          <a:lstStyle/>
          <a:p>
            <a:pPr>
              <a:spcAft>
                <a:spcPts val="600"/>
              </a:spcAft>
              <a:defRPr sz="1800" b="1">
                <a:solidFill>
                  <a:srgbClr val="152C43"/>
                </a:solidFill>
                <a:latin typeface="Arial"/>
              </a:defRPr>
            </a:pPr>
            <a:r>
              <a:t>This is a Normal/DoS subset of a laboratory dataset.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FINDING 1</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Normal and DoS use different protocol mixtures</a:t>
            </a:r>
          </a:p>
        </p:txBody>
      </p:sp>
      <p:sp>
        <p:nvSpPr>
          <p:cNvPr id="5" name="TextBox 4"/>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6" name="TextBox 5"/>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06</a:t>
            </a:r>
          </a:p>
        </p:txBody>
      </p:sp>
      <p:pic>
        <p:nvPicPr>
          <p:cNvPr id="7" name="Picture 6" descr="02_protocols_with_other.png"/>
          <p:cNvPicPr>
            <a:picLocks noChangeAspect="1"/>
          </p:cNvPicPr>
          <p:nvPr/>
        </p:nvPicPr>
        <p:blipFill>
          <a:blip r:embed="rId2"/>
          <a:stretch>
            <a:fillRect/>
          </a:stretch>
        </p:blipFill>
        <p:spPr>
          <a:xfrm>
            <a:off x="980813" y="1536192"/>
            <a:ext cx="8645413" cy="4206240"/>
          </a:xfrm>
          <a:prstGeom prst="rect">
            <a:avLst/>
          </a:prstGeom>
        </p:spPr>
      </p:pic>
      <p:sp>
        <p:nvSpPr>
          <p:cNvPr id="8" name="TextBox 7"/>
          <p:cNvSpPr txBox="1"/>
          <p:nvPr/>
        </p:nvSpPr>
        <p:spPr>
          <a:xfrm>
            <a:off x="9921240" y="2194560"/>
            <a:ext cx="1691640" cy="685800"/>
          </a:xfrm>
          <a:prstGeom prst="rect">
            <a:avLst/>
          </a:prstGeom>
          <a:noFill/>
        </p:spPr>
        <p:txBody>
          <a:bodyPr wrap="square" lIns="0" rIns="0" tIns="0" bIns="0">
            <a:spAutoFit/>
          </a:bodyPr>
          <a:lstStyle/>
          <a:p>
            <a:pPr>
              <a:spcAft>
                <a:spcPts val="600"/>
              </a:spcAft>
              <a:defRPr sz="3800" b="1">
                <a:solidFill>
                  <a:srgbClr val="D55E00"/>
                </a:solidFill>
                <a:latin typeface="Arial"/>
              </a:defRPr>
            </a:pPr>
            <a:r>
              <a:t>126</a:t>
            </a:r>
          </a:p>
        </p:txBody>
      </p:sp>
      <p:sp>
        <p:nvSpPr>
          <p:cNvPr id="9" name="TextBox 8"/>
          <p:cNvSpPr txBox="1"/>
          <p:nvPr/>
        </p:nvSpPr>
        <p:spPr>
          <a:xfrm>
            <a:off x="9921240" y="2944368"/>
            <a:ext cx="1737360" cy="1463040"/>
          </a:xfrm>
          <a:prstGeom prst="rect">
            <a:avLst/>
          </a:prstGeom>
          <a:noFill/>
        </p:spPr>
        <p:txBody>
          <a:bodyPr wrap="square" lIns="0" rIns="0" tIns="0" bIns="0">
            <a:spAutoFit/>
          </a:bodyPr>
          <a:lstStyle/>
          <a:p>
            <a:pPr>
              <a:spcAft>
                <a:spcPts val="600"/>
              </a:spcAft>
              <a:defRPr sz="1900" b="0">
                <a:solidFill>
                  <a:srgbClr val="586A7A"/>
                </a:solidFill>
                <a:latin typeface="Arial"/>
              </a:defRPr>
            </a:pPr>
            <a:r>
              <a:t>protocol names</a:t>
            </a:r>
          </a:p>
          <a:p>
            <a:pPr>
              <a:spcAft>
                <a:spcPts val="600"/>
              </a:spcAft>
              <a:defRPr sz="1900" b="0">
                <a:solidFill>
                  <a:srgbClr val="586A7A"/>
                </a:solidFill>
                <a:latin typeface="Arial"/>
              </a:defRPr>
            </a:pPr>
            <a:r>
              <a:t>with no Normal</a:t>
            </a:r>
          </a:p>
          <a:p>
            <a:pPr>
              <a:spcAft>
                <a:spcPts val="600"/>
              </a:spcAft>
              <a:defRPr sz="1900" b="0">
                <a:solidFill>
                  <a:srgbClr val="586A7A"/>
                </a:solidFill>
                <a:latin typeface="Arial"/>
              </a:defRPr>
            </a:pPr>
            <a:r>
              <a:t>examples here</a:t>
            </a:r>
          </a:p>
        </p:txBody>
      </p:sp>
      <p:sp>
        <p:nvSpPr>
          <p:cNvPr id="10" name="Rounded Rectangle 9"/>
          <p:cNvSpPr/>
          <p:nvPr/>
        </p:nvSpPr>
        <p:spPr>
          <a:xfrm>
            <a:off x="502920" y="5833872"/>
            <a:ext cx="11155680" cy="475488"/>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934456"/>
            <a:ext cx="10789920" cy="274320"/>
          </a:xfrm>
          <a:prstGeom prst="rect">
            <a:avLst/>
          </a:prstGeom>
          <a:noFill/>
        </p:spPr>
        <p:txBody>
          <a:bodyPr wrap="square" lIns="0" rIns="0" tIns="0" bIns="0">
            <a:spAutoFit/>
          </a:bodyPr>
          <a:lstStyle/>
          <a:p>
            <a:pPr>
              <a:spcAft>
                <a:spcPts val="600"/>
              </a:spcAft>
              <a:defRPr sz="1800" b="1">
                <a:solidFill>
                  <a:srgbClr val="152C43"/>
                </a:solidFill>
                <a:latin typeface="Arial"/>
              </a:defRPr>
            </a:pPr>
            <a:r>
              <a:t>Each color totals 100%. “Other protocols” includes every remaining name.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FINDING 2</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Short flows can still have high packet rates</a:t>
            </a:r>
          </a:p>
        </p:txBody>
      </p:sp>
      <p:sp>
        <p:nvSpPr>
          <p:cNvPr id="5" name="TextBox 4"/>
          <p:cNvSpPr txBox="1"/>
          <p:nvPr/>
        </p:nvSpPr>
        <p:spPr>
          <a:xfrm>
            <a:off x="530352" y="1389888"/>
            <a:ext cx="10972800" cy="502920"/>
          </a:xfrm>
          <a:prstGeom prst="rect">
            <a:avLst/>
          </a:prstGeom>
          <a:noFill/>
        </p:spPr>
        <p:txBody>
          <a:bodyPr wrap="square" lIns="0" rIns="0" tIns="0" bIns="0">
            <a:spAutoFit/>
          </a:bodyPr>
          <a:lstStyle/>
          <a:p>
            <a:pPr>
              <a:spcAft>
                <a:spcPts val="600"/>
              </a:spcAft>
              <a:defRPr sz="1700" b="0">
                <a:solidFill>
                  <a:srgbClr val="586A7A"/>
                </a:solidFill>
                <a:latin typeface="Arial"/>
              </a:defRPr>
            </a:pPr>
            <a:r>
              <a:t>Median DoS flow: 9 microseconds · 2 source packets</a:t>
            </a:r>
          </a:p>
        </p:txBody>
      </p:sp>
      <p:sp>
        <p:nvSpPr>
          <p:cNvPr id="6" name="TextBox 5"/>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7" name="TextBox 6"/>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07</a:t>
            </a:r>
          </a:p>
        </p:txBody>
      </p:sp>
      <p:pic>
        <p:nvPicPr>
          <p:cNvPr id="8" name="Picture 7" descr="03_duration_and_rate.png"/>
          <p:cNvPicPr>
            <a:picLocks noChangeAspect="1"/>
          </p:cNvPicPr>
          <p:nvPr/>
        </p:nvPicPr>
        <p:blipFill>
          <a:blip r:embed="rId2"/>
          <a:stretch>
            <a:fillRect/>
          </a:stretch>
        </p:blipFill>
        <p:spPr>
          <a:xfrm>
            <a:off x="1369725" y="1920240"/>
            <a:ext cx="9467789" cy="3566160"/>
          </a:xfrm>
          <a:prstGeom prst="rect">
            <a:avLst/>
          </a:prstGeom>
        </p:spPr>
      </p:pic>
      <p:sp>
        <p:nvSpPr>
          <p:cNvPr id="9" name="TextBox 8"/>
          <p:cNvSpPr txBox="1"/>
          <p:nvPr/>
        </p:nvSpPr>
        <p:spPr>
          <a:xfrm>
            <a:off x="731520" y="5513832"/>
            <a:ext cx="10789920" cy="228600"/>
          </a:xfrm>
          <a:prstGeom prst="rect">
            <a:avLst/>
          </a:prstGeom>
          <a:noFill/>
        </p:spPr>
        <p:txBody>
          <a:bodyPr wrap="square" lIns="0" rIns="0" tIns="0" bIns="0">
            <a:spAutoFit/>
          </a:bodyPr>
          <a:lstStyle/>
          <a:p>
            <a:pPr>
              <a:spcAft>
                <a:spcPts val="600"/>
              </a:spcAft>
              <a:defRPr sz="1200" b="0">
                <a:solidFill>
                  <a:srgbClr val="586A7A"/>
                </a:solidFill>
                <a:latin typeface="Arial"/>
              </a:defRPr>
            </a:pPr>
            <a:r>
              <a:t>Positive values only · zeros are counted separately in the notebook</a:t>
            </a:r>
          </a:p>
        </p:txBody>
      </p:sp>
      <p:sp>
        <p:nvSpPr>
          <p:cNvPr id="10" name="Rounded Rectangle 9"/>
          <p:cNvSpPr/>
          <p:nvPr/>
        </p:nvSpPr>
        <p:spPr>
          <a:xfrm>
            <a:off x="502920" y="5833872"/>
            <a:ext cx="11155680" cy="475488"/>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934456"/>
            <a:ext cx="10789920" cy="274320"/>
          </a:xfrm>
          <a:prstGeom prst="rect">
            <a:avLst/>
          </a:prstGeom>
          <a:noFill/>
        </p:spPr>
        <p:txBody>
          <a:bodyPr wrap="square" lIns="0" rIns="0" tIns="0" bIns="0">
            <a:spAutoFit/>
          </a:bodyPr>
          <a:lstStyle/>
          <a:p>
            <a:pPr>
              <a:spcAft>
                <a:spcPts val="600"/>
              </a:spcAft>
              <a:defRPr sz="1800" b="1">
                <a:solidFill>
                  <a:srgbClr val="152C43"/>
                </a:solidFill>
                <a:latin typeface="Arial"/>
              </a:defRPr>
            </a:pPr>
            <a:r>
              <a:t>A high rate over a tiny interval does not prove sustained flooding.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FINDING 3</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DoS often has no recorded return packets</a:t>
            </a:r>
          </a:p>
        </p:txBody>
      </p:sp>
      <p:sp>
        <p:nvSpPr>
          <p:cNvPr id="5" name="TextBox 4"/>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6" name="TextBox 5"/>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08</a:t>
            </a:r>
          </a:p>
        </p:txBody>
      </p:sp>
      <p:pic>
        <p:nvPicPr>
          <p:cNvPr id="7" name="Picture 6" descr="04_no_return_packets.png"/>
          <p:cNvPicPr>
            <a:picLocks noChangeAspect="1"/>
          </p:cNvPicPr>
          <p:nvPr/>
        </p:nvPicPr>
        <p:blipFill>
          <a:blip r:embed="rId2"/>
          <a:stretch>
            <a:fillRect/>
          </a:stretch>
        </p:blipFill>
        <p:spPr>
          <a:xfrm>
            <a:off x="2211304" y="1783080"/>
            <a:ext cx="7784630" cy="3749039"/>
          </a:xfrm>
          <a:prstGeom prst="rect">
            <a:avLst/>
          </a:prstGeom>
        </p:spPr>
      </p:pic>
      <p:sp>
        <p:nvSpPr>
          <p:cNvPr id="8" name="Rounded Rectangle 7"/>
          <p:cNvSpPr/>
          <p:nvPr/>
        </p:nvSpPr>
        <p:spPr>
          <a:xfrm>
            <a:off x="502920" y="5833872"/>
            <a:ext cx="11155680" cy="475488"/>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5934456"/>
            <a:ext cx="10789920" cy="274320"/>
          </a:xfrm>
          <a:prstGeom prst="rect">
            <a:avLst/>
          </a:prstGeom>
          <a:noFill/>
        </p:spPr>
        <p:txBody>
          <a:bodyPr wrap="square" lIns="0" rIns="0" tIns="0" bIns="0">
            <a:spAutoFit/>
          </a:bodyPr>
          <a:lstStyle/>
          <a:p>
            <a:pPr>
              <a:spcAft>
                <a:spcPts val="600"/>
              </a:spcAft>
              <a:defRPr sz="1800" b="1">
                <a:solidFill>
                  <a:srgbClr val="152C43"/>
                </a:solidFill>
                <a:latin typeface="Arial"/>
              </a:defRPr>
            </a:pPr>
            <a:r>
              <a:t>One-way traffic also occurs in Normal flows. Read it with the protocol.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RELATIONSHIPS</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Read packet counts and byte counts together</a:t>
            </a:r>
          </a:p>
        </p:txBody>
      </p:sp>
      <p:sp>
        <p:nvSpPr>
          <p:cNvPr id="5" name="TextBox 4"/>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6" name="TextBox 5"/>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09</a:t>
            </a:r>
          </a:p>
        </p:txBody>
      </p:sp>
      <p:pic>
        <p:nvPicPr>
          <p:cNvPr id="7" name="Picture 6" descr="05_packets_and_bytes.png"/>
          <p:cNvPicPr>
            <a:picLocks noChangeAspect="1"/>
          </p:cNvPicPr>
          <p:nvPr/>
        </p:nvPicPr>
        <p:blipFill>
          <a:blip r:embed="rId2"/>
          <a:stretch>
            <a:fillRect/>
          </a:stretch>
        </p:blipFill>
        <p:spPr>
          <a:xfrm>
            <a:off x="965200" y="1645920"/>
            <a:ext cx="7396480" cy="4160520"/>
          </a:xfrm>
          <a:prstGeom prst="rect">
            <a:avLst/>
          </a:prstGeom>
        </p:spPr>
      </p:pic>
      <p:sp>
        <p:nvSpPr>
          <p:cNvPr id="8" name="TextBox 7"/>
          <p:cNvSpPr txBox="1"/>
          <p:nvPr/>
        </p:nvSpPr>
        <p:spPr>
          <a:xfrm>
            <a:off x="9144000" y="2240280"/>
            <a:ext cx="2377440" cy="1005840"/>
          </a:xfrm>
          <a:prstGeom prst="rect">
            <a:avLst/>
          </a:prstGeom>
          <a:noFill/>
        </p:spPr>
        <p:txBody>
          <a:bodyPr wrap="square" lIns="0" rIns="0" tIns="0" bIns="0">
            <a:spAutoFit/>
          </a:bodyPr>
          <a:lstStyle/>
          <a:p>
            <a:pPr>
              <a:spcAft>
                <a:spcPts val="600"/>
              </a:spcAft>
              <a:defRPr sz="2700" b="1">
                <a:solidFill>
                  <a:srgbClr val="152C43"/>
                </a:solidFill>
                <a:latin typeface="Arial"/>
              </a:defRPr>
            </a:pPr>
            <a:r>
              <a:t>Each dot</a:t>
            </a:r>
          </a:p>
          <a:p>
            <a:pPr>
              <a:spcAft>
                <a:spcPts val="600"/>
              </a:spcAft>
              <a:defRPr sz="2700" b="1">
                <a:solidFill>
                  <a:srgbClr val="152C43"/>
                </a:solidFill>
                <a:latin typeface="Arial"/>
              </a:defRPr>
            </a:pPr>
            <a:r>
              <a:t>is one flow.</a:t>
            </a:r>
          </a:p>
        </p:txBody>
      </p:sp>
      <p:sp>
        <p:nvSpPr>
          <p:cNvPr id="9" name="TextBox 8"/>
          <p:cNvSpPr txBox="1"/>
          <p:nvPr/>
        </p:nvSpPr>
        <p:spPr>
          <a:xfrm>
            <a:off x="9144000" y="3657600"/>
            <a:ext cx="2377440" cy="914400"/>
          </a:xfrm>
          <a:prstGeom prst="rect">
            <a:avLst/>
          </a:prstGeom>
          <a:noFill/>
        </p:spPr>
        <p:txBody>
          <a:bodyPr wrap="square" lIns="0" rIns="0" tIns="0" bIns="0">
            <a:spAutoFit/>
          </a:bodyPr>
          <a:lstStyle/>
          <a:p>
            <a:pPr>
              <a:spcAft>
                <a:spcPts val="600"/>
              </a:spcAft>
              <a:defRPr sz="2100" b="0">
                <a:solidFill>
                  <a:srgbClr val="586A7A"/>
                </a:solidFill>
                <a:latin typeface="Arial"/>
              </a:defRPr>
            </a:pPr>
            <a:r>
              <a:t>Normal and DoS</a:t>
            </a:r>
          </a:p>
          <a:p>
            <a:pPr>
              <a:spcAft>
                <a:spcPts val="600"/>
              </a:spcAft>
              <a:defRPr sz="2100" b="0">
                <a:solidFill>
                  <a:srgbClr val="586A7A"/>
                </a:solidFill>
                <a:latin typeface="Arial"/>
              </a:defRPr>
            </a:pPr>
            <a:r>
              <a:t>patterns overlap.</a:t>
            </a:r>
          </a:p>
        </p:txBody>
      </p:sp>
      <p:sp>
        <p:nvSpPr>
          <p:cNvPr id="10" name="Rounded Rectangle 9"/>
          <p:cNvSpPr/>
          <p:nvPr/>
        </p:nvSpPr>
        <p:spPr>
          <a:xfrm>
            <a:off x="502920" y="5833872"/>
            <a:ext cx="11155680" cy="475488"/>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934456"/>
            <a:ext cx="10789920" cy="274320"/>
          </a:xfrm>
          <a:prstGeom prst="rect">
            <a:avLst/>
          </a:prstGeom>
          <a:noFill/>
        </p:spPr>
        <p:txBody>
          <a:bodyPr wrap="square" lIns="0" rIns="0" tIns="0" bIns="0">
            <a:spAutoFit/>
          </a:bodyPr>
          <a:lstStyle/>
          <a:p>
            <a:pPr>
              <a:spcAft>
                <a:spcPts val="600"/>
              </a:spcAft>
              <a:defRPr sz="1800" b="1">
                <a:solidFill>
                  <a:srgbClr val="152C43"/>
                </a:solidFill>
                <a:latin typeface="Arial"/>
              </a:defRPr>
            </a:pPr>
            <a:r>
              <a:t>A flow can be unusual in a relationship even when each value looks ordinary.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FINDING 4</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The rate comparison changes inside TCP</a:t>
            </a:r>
          </a:p>
        </p:txBody>
      </p:sp>
      <p:sp>
        <p:nvSpPr>
          <p:cNvPr id="5" name="TextBox 4"/>
          <p:cNvSpPr txBox="1"/>
          <p:nvPr/>
        </p:nvSpPr>
        <p:spPr>
          <a:xfrm>
            <a:off x="530352" y="1389888"/>
            <a:ext cx="10972800" cy="502920"/>
          </a:xfrm>
          <a:prstGeom prst="rect">
            <a:avLst/>
          </a:prstGeom>
          <a:noFill/>
        </p:spPr>
        <p:txBody>
          <a:bodyPr wrap="square" lIns="0" rIns="0" tIns="0" bIns="0">
            <a:spAutoFit/>
          </a:bodyPr>
          <a:lstStyle/>
          <a:p>
            <a:pPr>
              <a:spcAft>
                <a:spcPts val="600"/>
              </a:spcAft>
              <a:defRPr sz="1700" b="0">
                <a:solidFill>
                  <a:srgbClr val="586A7A"/>
                </a:solidFill>
                <a:latin typeface="Arial"/>
              </a:defRPr>
            </a:pPr>
            <a:r>
              <a:t>Compare similar traffic before defining what looks unusual.</a:t>
            </a:r>
          </a:p>
        </p:txBody>
      </p:sp>
      <p:sp>
        <p:nvSpPr>
          <p:cNvPr id="6" name="TextBox 5"/>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7" name="TextBox 6"/>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10</a:t>
            </a:r>
          </a:p>
        </p:txBody>
      </p:sp>
      <p:pic>
        <p:nvPicPr>
          <p:cNvPr id="8" name="Picture 7" descr="06_rate_by_context.png"/>
          <p:cNvPicPr>
            <a:picLocks noChangeAspect="1"/>
          </p:cNvPicPr>
          <p:nvPr/>
        </p:nvPicPr>
        <p:blipFill>
          <a:blip r:embed="rId2"/>
          <a:stretch>
            <a:fillRect/>
          </a:stretch>
        </p:blipFill>
        <p:spPr>
          <a:xfrm>
            <a:off x="1217814" y="1874519"/>
            <a:ext cx="9725890" cy="3566160"/>
          </a:xfrm>
          <a:prstGeom prst="rect">
            <a:avLst/>
          </a:prstGeom>
        </p:spPr>
      </p:pic>
      <p:sp>
        <p:nvSpPr>
          <p:cNvPr id="9" name="Rounded Rectangle 8"/>
          <p:cNvSpPr/>
          <p:nvPr/>
        </p:nvSpPr>
        <p:spPr>
          <a:xfrm>
            <a:off x="502920" y="5833872"/>
            <a:ext cx="11155680" cy="475488"/>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5934456"/>
            <a:ext cx="10789920" cy="274320"/>
          </a:xfrm>
          <a:prstGeom prst="rect">
            <a:avLst/>
          </a:prstGeom>
          <a:noFill/>
        </p:spPr>
        <p:txBody>
          <a:bodyPr wrap="square" lIns="0" rIns="0" tIns="0" bIns="0">
            <a:spAutoFit/>
          </a:bodyPr>
          <a:lstStyle/>
          <a:p>
            <a:pPr>
              <a:spcAft>
                <a:spcPts val="600"/>
              </a:spcAft>
              <a:defRPr sz="1800" b="1">
                <a:solidFill>
                  <a:srgbClr val="152C43"/>
                </a:solidFill>
                <a:latin typeface="Arial"/>
              </a:defRPr>
            </a:pPr>
            <a:r>
              <a:t>Different axis ranges. In each panel, compare Normal with DoS.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FEATURE UNDERSTANDING</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Two summaries make the flow easier to read</a:t>
            </a:r>
          </a:p>
        </p:txBody>
      </p:sp>
      <p:sp>
        <p:nvSpPr>
          <p:cNvPr id="5" name="TextBox 4"/>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6" name="TextBox 5"/>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11</a:t>
            </a:r>
          </a:p>
        </p:txBody>
      </p:sp>
      <p:pic>
        <p:nvPicPr>
          <p:cNvPr id="7" name="Picture 6" descr="07_derived_features.png"/>
          <p:cNvPicPr>
            <a:picLocks noChangeAspect="1"/>
          </p:cNvPicPr>
          <p:nvPr/>
        </p:nvPicPr>
        <p:blipFill>
          <a:blip r:embed="rId2"/>
          <a:stretch>
            <a:fillRect/>
          </a:stretch>
        </p:blipFill>
        <p:spPr>
          <a:xfrm>
            <a:off x="1313713" y="1600200"/>
            <a:ext cx="9534093" cy="3429000"/>
          </a:xfrm>
          <a:prstGeom prst="rect">
            <a:avLst/>
          </a:prstGeom>
        </p:spPr>
      </p:pic>
      <p:sp>
        <p:nvSpPr>
          <p:cNvPr id="8" name="TextBox 7"/>
          <p:cNvSpPr txBox="1"/>
          <p:nvPr/>
        </p:nvSpPr>
        <p:spPr>
          <a:xfrm>
            <a:off x="640080" y="5166360"/>
            <a:ext cx="5486400" cy="411480"/>
          </a:xfrm>
          <a:prstGeom prst="rect">
            <a:avLst/>
          </a:prstGeom>
          <a:noFill/>
        </p:spPr>
        <p:txBody>
          <a:bodyPr wrap="square" lIns="0" rIns="0" tIns="0" bIns="0">
            <a:spAutoFit/>
          </a:bodyPr>
          <a:lstStyle/>
          <a:p>
            <a:pPr>
              <a:spcAft>
                <a:spcPts val="600"/>
              </a:spcAft>
              <a:defRPr sz="1700" b="1">
                <a:solidFill>
                  <a:srgbClr val="0072B2"/>
                </a:solidFill>
                <a:latin typeface="Arial"/>
              </a:defRPr>
            </a:pPr>
            <a:r>
              <a:t>Return share = returned packets / all packets</a:t>
            </a:r>
          </a:p>
        </p:txBody>
      </p:sp>
      <p:sp>
        <p:nvSpPr>
          <p:cNvPr id="9" name="TextBox 8"/>
          <p:cNvSpPr txBox="1"/>
          <p:nvPr/>
        </p:nvSpPr>
        <p:spPr>
          <a:xfrm>
            <a:off x="6217920" y="5166360"/>
            <a:ext cx="5303520" cy="411480"/>
          </a:xfrm>
          <a:prstGeom prst="rect">
            <a:avLst/>
          </a:prstGeom>
          <a:noFill/>
        </p:spPr>
        <p:txBody>
          <a:bodyPr wrap="square" lIns="0" rIns="0" tIns="0" bIns="0">
            <a:spAutoFit/>
          </a:bodyPr>
          <a:lstStyle/>
          <a:p>
            <a:pPr>
              <a:spcAft>
                <a:spcPts val="600"/>
              </a:spcAft>
              <a:defRPr sz="1700" b="1">
                <a:solidFill>
                  <a:srgbClr val="0072B2"/>
                </a:solidFill>
                <a:latin typeface="Arial"/>
              </a:defRPr>
            </a:pPr>
            <a:r>
              <a:t>Mean bytes = source bytes / source packets</a:t>
            </a:r>
          </a:p>
        </p:txBody>
      </p:sp>
      <p:sp>
        <p:nvSpPr>
          <p:cNvPr id="10" name="Rounded Rectangle 9"/>
          <p:cNvSpPr/>
          <p:nvPr/>
        </p:nvSpPr>
        <p:spPr>
          <a:xfrm>
            <a:off x="502920" y="5833872"/>
            <a:ext cx="11155680" cy="475488"/>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934456"/>
            <a:ext cx="10789920" cy="274320"/>
          </a:xfrm>
          <a:prstGeom prst="rect">
            <a:avLst/>
          </a:prstGeom>
          <a:noFill/>
        </p:spPr>
        <p:txBody>
          <a:bodyPr wrap="square" lIns="0" rIns="0" tIns="0" bIns="0">
            <a:spAutoFit/>
          </a:bodyPr>
          <a:lstStyle/>
          <a:p>
            <a:pPr>
              <a:spcAft>
                <a:spcPts val="600"/>
              </a:spcAft>
              <a:defRPr sz="1800" b="1">
                <a:solidFill>
                  <a:srgbClr val="152C43"/>
                </a:solidFill>
                <a:latin typeface="Arial"/>
              </a:defRPr>
            </a:pPr>
            <a:r>
              <a:t>These are new views of existing measurements—not new raw information.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DATA QUALITY</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Repeated measurements change the picture</a:t>
            </a:r>
          </a:p>
        </p:txBody>
      </p:sp>
      <p:sp>
        <p:nvSpPr>
          <p:cNvPr id="5" name="TextBox 4"/>
          <p:cNvSpPr txBox="1"/>
          <p:nvPr/>
        </p:nvSpPr>
        <p:spPr>
          <a:xfrm>
            <a:off x="530352" y="1389888"/>
            <a:ext cx="10972800" cy="502920"/>
          </a:xfrm>
          <a:prstGeom prst="rect">
            <a:avLst/>
          </a:prstGeom>
          <a:noFill/>
        </p:spPr>
        <p:txBody>
          <a:bodyPr wrap="square" lIns="0" rIns="0" tIns="0" bIns="0">
            <a:spAutoFit/>
          </a:bodyPr>
          <a:lstStyle/>
          <a:p>
            <a:pPr>
              <a:spcAft>
                <a:spcPts val="600"/>
              </a:spcAft>
              <a:defRPr sz="1700" b="0">
                <a:solidFill>
                  <a:srgbClr val="586A7A"/>
                </a:solidFill>
                <a:latin typeface="Arial"/>
              </a:defRPr>
            </a:pPr>
            <a:r>
              <a:t>0 missing values · 26,869 rows repeat the same selected measurements.</a:t>
            </a:r>
          </a:p>
        </p:txBody>
      </p:sp>
      <p:sp>
        <p:nvSpPr>
          <p:cNvPr id="6" name="TextBox 5"/>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7" name="TextBox 6"/>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12</a:t>
            </a:r>
          </a:p>
        </p:txBody>
      </p:sp>
      <p:pic>
        <p:nvPicPr>
          <p:cNvPr id="8" name="Picture 7" descr="08_repeated_patterns.png"/>
          <p:cNvPicPr>
            <a:picLocks noChangeAspect="1"/>
          </p:cNvPicPr>
          <p:nvPr/>
        </p:nvPicPr>
        <p:blipFill>
          <a:blip r:embed="rId2"/>
          <a:stretch>
            <a:fillRect/>
          </a:stretch>
        </p:blipFill>
        <p:spPr>
          <a:xfrm>
            <a:off x="1458109" y="1828800"/>
            <a:ext cx="9245300" cy="3566160"/>
          </a:xfrm>
          <a:prstGeom prst="rect">
            <a:avLst/>
          </a:prstGeom>
        </p:spPr>
      </p:pic>
      <p:sp>
        <p:nvSpPr>
          <p:cNvPr id="9" name="Rounded Rectangle 8"/>
          <p:cNvSpPr/>
          <p:nvPr/>
        </p:nvSpPr>
        <p:spPr>
          <a:xfrm>
            <a:off x="502920" y="5833872"/>
            <a:ext cx="11155680" cy="475488"/>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5934456"/>
            <a:ext cx="10789920" cy="274320"/>
          </a:xfrm>
          <a:prstGeom prst="rect">
            <a:avLst/>
          </a:prstGeom>
          <a:noFill/>
        </p:spPr>
        <p:txBody>
          <a:bodyPr wrap="square" lIns="0" rIns="0" tIns="0" bIns="0">
            <a:spAutoFit/>
          </a:bodyPr>
          <a:lstStyle/>
          <a:p>
            <a:pPr>
              <a:spcAft>
                <a:spcPts val="600"/>
              </a:spcAft>
              <a:defRPr sz="1800" b="1">
                <a:solidFill>
                  <a:srgbClr val="152C43"/>
                </a:solidFill>
                <a:latin typeface="Arial"/>
              </a:defRPr>
            </a:pPr>
            <a:r>
              <a:t>A comparison only: we did not remove repeated records.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INFORMATION LIMITS</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The same measurements can have different labels</a:t>
            </a:r>
          </a:p>
        </p:txBody>
      </p:sp>
      <p:sp>
        <p:nvSpPr>
          <p:cNvPr id="5" name="TextBox 4"/>
          <p:cNvSpPr txBox="1"/>
          <p:nvPr/>
        </p:nvSpPr>
        <p:spPr>
          <a:xfrm>
            <a:off x="530352" y="1389888"/>
            <a:ext cx="10972800" cy="502920"/>
          </a:xfrm>
          <a:prstGeom prst="rect">
            <a:avLst/>
          </a:prstGeom>
          <a:noFill/>
        </p:spPr>
        <p:txBody>
          <a:bodyPr wrap="square" lIns="0" rIns="0" tIns="0" bIns="0">
            <a:spAutoFit/>
          </a:bodyPr>
          <a:lstStyle/>
          <a:p>
            <a:pPr>
              <a:spcAft>
                <a:spcPts val="600"/>
              </a:spcAft>
              <a:defRPr sz="1700" b="0">
                <a:solidFill>
                  <a:srgbClr val="586A7A"/>
                </a:solidFill>
                <a:latin typeface="Arial"/>
              </a:defRPr>
            </a:pPr>
            <a:r>
              <a:t>24 identical measurement patterns occur with both labels.</a:t>
            </a:r>
          </a:p>
        </p:txBody>
      </p:sp>
      <p:sp>
        <p:nvSpPr>
          <p:cNvPr id="6" name="TextBox 5"/>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7" name="TextBox 6"/>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13</a:t>
            </a:r>
          </a:p>
        </p:txBody>
      </p:sp>
      <p:sp>
        <p:nvSpPr>
          <p:cNvPr id="8" name="Rounded Rectangle 7"/>
          <p:cNvSpPr/>
          <p:nvPr/>
        </p:nvSpPr>
        <p:spPr>
          <a:xfrm>
            <a:off x="777240" y="2057400"/>
            <a:ext cx="4983480" cy="333756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57400"/>
            <a:ext cx="4983480" cy="10972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350008"/>
            <a:ext cx="4389120" cy="502920"/>
          </a:xfrm>
          <a:prstGeom prst="rect">
            <a:avLst/>
          </a:prstGeom>
          <a:noFill/>
        </p:spPr>
        <p:txBody>
          <a:bodyPr wrap="square" lIns="0" rIns="0" tIns="0" bIns="0">
            <a:spAutoFit/>
          </a:bodyPr>
          <a:lstStyle/>
          <a:p>
            <a:pPr>
              <a:spcAft>
                <a:spcPts val="600"/>
              </a:spcAft>
              <a:defRPr sz="2900" b="1">
                <a:solidFill>
                  <a:srgbClr val="0072B2"/>
                </a:solidFill>
                <a:latin typeface="Arial"/>
              </a:defRPr>
            </a:pPr>
            <a:r>
              <a:t>Normal</a:t>
            </a:r>
          </a:p>
        </p:txBody>
      </p:sp>
      <p:sp>
        <p:nvSpPr>
          <p:cNvPr id="11" name="TextBox 10"/>
          <p:cNvSpPr txBox="1"/>
          <p:nvPr/>
        </p:nvSpPr>
        <p:spPr>
          <a:xfrm>
            <a:off x="1051560" y="3108960"/>
            <a:ext cx="4434840" cy="1920240"/>
          </a:xfrm>
          <a:prstGeom prst="rect">
            <a:avLst/>
          </a:prstGeom>
          <a:noFill/>
        </p:spPr>
        <p:txBody>
          <a:bodyPr wrap="square" lIns="0" rIns="0" tIns="0" bIns="0">
            <a:spAutoFit/>
          </a:bodyPr>
          <a:lstStyle/>
          <a:p>
            <a:pPr>
              <a:spcAft>
                <a:spcPts val="600"/>
              </a:spcAft>
              <a:defRPr sz="2000" b="0">
                <a:solidFill>
                  <a:srgbClr val="152C43"/>
                </a:solidFill>
                <a:latin typeface="Arial"/>
              </a:defRPr>
            </a:pPr>
            <a:r>
              <a:t>Protocol: udp   |   State: INT</a:t>
            </a:r>
          </a:p>
          <a:p>
            <a:pPr>
              <a:spcAft>
                <a:spcPts val="600"/>
              </a:spcAft>
              <a:defRPr sz="2000" b="0">
                <a:solidFill>
                  <a:srgbClr val="152C43"/>
                </a:solidFill>
                <a:latin typeface="Arial"/>
              </a:defRPr>
            </a:pPr>
            <a:r>
              <a:t>Source packets: 2   |   Return packets: 0</a:t>
            </a:r>
          </a:p>
          <a:p>
            <a:pPr>
              <a:spcAft>
                <a:spcPts val="600"/>
              </a:spcAft>
              <a:defRPr sz="2000" b="0">
                <a:solidFill>
                  <a:srgbClr val="152C43"/>
                </a:solidFill>
                <a:latin typeface="Arial"/>
              </a:defRPr>
            </a:pPr>
            <a:r>
              <a:t>Duration: 9 microseconds</a:t>
            </a:r>
          </a:p>
          <a:p>
            <a:pPr>
              <a:spcAft>
                <a:spcPts val="600"/>
              </a:spcAft>
              <a:defRPr sz="2000" b="0">
                <a:solidFill>
                  <a:srgbClr val="152C43"/>
                </a:solidFill>
                <a:latin typeface="Arial"/>
              </a:defRPr>
            </a:pPr>
            <a:r>
              <a:t>Source bytes: 78   |   Return bytes: 0</a:t>
            </a:r>
          </a:p>
        </p:txBody>
      </p:sp>
      <p:sp>
        <p:nvSpPr>
          <p:cNvPr id="12" name="Rounded Rectangle 11"/>
          <p:cNvSpPr/>
          <p:nvPr/>
        </p:nvSpPr>
        <p:spPr>
          <a:xfrm>
            <a:off x="6400800" y="2057400"/>
            <a:ext cx="4983480" cy="333756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2057400"/>
            <a:ext cx="4983480" cy="109728"/>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2350008"/>
            <a:ext cx="4389120" cy="502920"/>
          </a:xfrm>
          <a:prstGeom prst="rect">
            <a:avLst/>
          </a:prstGeom>
          <a:noFill/>
        </p:spPr>
        <p:txBody>
          <a:bodyPr wrap="square" lIns="0" rIns="0" tIns="0" bIns="0">
            <a:spAutoFit/>
          </a:bodyPr>
          <a:lstStyle/>
          <a:p>
            <a:pPr>
              <a:spcAft>
                <a:spcPts val="600"/>
              </a:spcAft>
              <a:defRPr sz="2900" b="1">
                <a:solidFill>
                  <a:srgbClr val="D55E00"/>
                </a:solidFill>
                <a:latin typeface="Arial"/>
              </a:defRPr>
            </a:pPr>
            <a:r>
              <a:t>DoS</a:t>
            </a:r>
          </a:p>
        </p:txBody>
      </p:sp>
      <p:sp>
        <p:nvSpPr>
          <p:cNvPr id="15" name="TextBox 14"/>
          <p:cNvSpPr txBox="1"/>
          <p:nvPr/>
        </p:nvSpPr>
        <p:spPr>
          <a:xfrm>
            <a:off x="6675120" y="3108960"/>
            <a:ext cx="4434840" cy="1920240"/>
          </a:xfrm>
          <a:prstGeom prst="rect">
            <a:avLst/>
          </a:prstGeom>
          <a:noFill/>
        </p:spPr>
        <p:txBody>
          <a:bodyPr wrap="square" lIns="0" rIns="0" tIns="0" bIns="0">
            <a:spAutoFit/>
          </a:bodyPr>
          <a:lstStyle/>
          <a:p>
            <a:pPr>
              <a:spcAft>
                <a:spcPts val="600"/>
              </a:spcAft>
              <a:defRPr sz="2000" b="0">
                <a:solidFill>
                  <a:srgbClr val="152C43"/>
                </a:solidFill>
                <a:latin typeface="Arial"/>
              </a:defRPr>
            </a:pPr>
            <a:r>
              <a:t>Protocol: udp   |   State: INT</a:t>
            </a:r>
          </a:p>
          <a:p>
            <a:pPr>
              <a:spcAft>
                <a:spcPts val="600"/>
              </a:spcAft>
              <a:defRPr sz="2000" b="0">
                <a:solidFill>
                  <a:srgbClr val="152C43"/>
                </a:solidFill>
                <a:latin typeface="Arial"/>
              </a:defRPr>
            </a:pPr>
            <a:r>
              <a:t>Source packets: 2   |   Return packets: 0</a:t>
            </a:r>
          </a:p>
          <a:p>
            <a:pPr>
              <a:spcAft>
                <a:spcPts val="600"/>
              </a:spcAft>
              <a:defRPr sz="2000" b="0">
                <a:solidFill>
                  <a:srgbClr val="152C43"/>
                </a:solidFill>
                <a:latin typeface="Arial"/>
              </a:defRPr>
            </a:pPr>
            <a:r>
              <a:t>Duration: 9 microseconds</a:t>
            </a:r>
          </a:p>
          <a:p>
            <a:pPr>
              <a:spcAft>
                <a:spcPts val="600"/>
              </a:spcAft>
              <a:defRPr sz="2000" b="0">
                <a:solidFill>
                  <a:srgbClr val="152C43"/>
                </a:solidFill>
                <a:latin typeface="Arial"/>
              </a:defRPr>
            </a:pPr>
            <a:r>
              <a:t>Source bytes: 78   |   Return bytes: 0</a:t>
            </a:r>
          </a:p>
        </p:txBody>
      </p:sp>
      <p:sp>
        <p:nvSpPr>
          <p:cNvPr id="16" name="Rounded Rectangle 15"/>
          <p:cNvSpPr/>
          <p:nvPr/>
        </p:nvSpPr>
        <p:spPr>
          <a:xfrm>
            <a:off x="502920" y="5833872"/>
            <a:ext cx="11155680" cy="475488"/>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934456"/>
            <a:ext cx="10789920" cy="274320"/>
          </a:xfrm>
          <a:prstGeom prst="rect">
            <a:avLst/>
          </a:prstGeom>
          <a:noFill/>
        </p:spPr>
        <p:txBody>
          <a:bodyPr wrap="square" lIns="0" rIns="0" tIns="0" bIns="0">
            <a:spAutoFit/>
          </a:bodyPr>
          <a:lstStyle/>
          <a:p>
            <a:pPr>
              <a:spcAft>
                <a:spcPts val="600"/>
              </a:spcAft>
              <a:defRPr sz="1800" b="1">
                <a:solidFill>
                  <a:srgbClr val="152C43"/>
                </a:solidFill>
                <a:latin typeface="Arial"/>
              </a:defRPr>
            </a:pPr>
            <a:r>
              <a:t>All 13 selected measurements match. Extra context is missing.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TASK FORMULATION</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Find flows that differ from similar normal traffic</a:t>
            </a:r>
          </a:p>
        </p:txBody>
      </p:sp>
      <p:sp>
        <p:nvSpPr>
          <p:cNvPr id="5" name="TextBox 4"/>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6" name="TextBox 5"/>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14</a:t>
            </a:r>
          </a:p>
        </p:txBody>
      </p:sp>
      <p:sp>
        <p:nvSpPr>
          <p:cNvPr id="7" name="TextBox 6"/>
          <p:cNvSpPr txBox="1"/>
          <p:nvPr/>
        </p:nvSpPr>
        <p:spPr>
          <a:xfrm>
            <a:off x="731520" y="1783080"/>
            <a:ext cx="10789920" cy="1280160"/>
          </a:xfrm>
          <a:prstGeom prst="rect">
            <a:avLst/>
          </a:prstGeom>
          <a:noFill/>
        </p:spPr>
        <p:txBody>
          <a:bodyPr wrap="square" lIns="0" rIns="0" tIns="0" bIns="0">
            <a:spAutoFit/>
          </a:bodyPr>
          <a:lstStyle/>
          <a:p>
            <a:pPr>
              <a:spcAft>
                <a:spcPts val="600"/>
              </a:spcAft>
              <a:defRPr sz="3300" b="1">
                <a:solidFill>
                  <a:srgbClr val="152C43"/>
                </a:solidFill>
                <a:latin typeface="Arial"/>
              </a:defRPr>
            </a:pPr>
            <a:r>
              <a:t>Which recorded flows deserve</a:t>
            </a:r>
          </a:p>
          <a:p>
            <a:pPr>
              <a:spcAft>
                <a:spcPts val="600"/>
              </a:spcAft>
              <a:defRPr sz="3300" b="1">
                <a:solidFill>
                  <a:srgbClr val="152C43"/>
                </a:solidFill>
                <a:latin typeface="Arial"/>
              </a:defRPr>
            </a:pPr>
            <a:r>
              <a:t>a security analyst’s attention?</a:t>
            </a:r>
          </a:p>
        </p:txBody>
      </p:sp>
      <p:sp>
        <p:nvSpPr>
          <p:cNvPr id="8" name="Rounded Rectangle 7"/>
          <p:cNvSpPr/>
          <p:nvPr/>
        </p:nvSpPr>
        <p:spPr>
          <a:xfrm>
            <a:off x="640080" y="3657600"/>
            <a:ext cx="3291840" cy="150876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3867912"/>
            <a:ext cx="2926080" cy="411480"/>
          </a:xfrm>
          <a:prstGeom prst="rect">
            <a:avLst/>
          </a:prstGeom>
          <a:noFill/>
        </p:spPr>
        <p:txBody>
          <a:bodyPr wrap="square" lIns="0" rIns="0" tIns="0" bIns="0">
            <a:spAutoFit/>
          </a:bodyPr>
          <a:lstStyle/>
          <a:p>
            <a:pPr>
              <a:spcAft>
                <a:spcPts val="600"/>
              </a:spcAft>
              <a:defRPr sz="2300" b="1">
                <a:solidFill>
                  <a:srgbClr val="0072B2"/>
                </a:solidFill>
                <a:latin typeface="Arial"/>
              </a:defRPr>
            </a:pPr>
            <a:r>
              <a:t>One flow</a:t>
            </a:r>
          </a:p>
        </p:txBody>
      </p:sp>
      <p:sp>
        <p:nvSpPr>
          <p:cNvPr id="10" name="TextBox 9"/>
          <p:cNvSpPr txBox="1"/>
          <p:nvPr/>
        </p:nvSpPr>
        <p:spPr>
          <a:xfrm>
            <a:off x="822959" y="4453128"/>
            <a:ext cx="2926080" cy="548640"/>
          </a:xfrm>
          <a:prstGeom prst="rect">
            <a:avLst/>
          </a:prstGeom>
          <a:noFill/>
        </p:spPr>
        <p:txBody>
          <a:bodyPr wrap="square" lIns="0" rIns="0" tIns="0" bIns="0">
            <a:spAutoFit/>
          </a:bodyPr>
          <a:lstStyle/>
          <a:p>
            <a:pPr>
              <a:spcAft>
                <a:spcPts val="600"/>
              </a:spcAft>
              <a:defRPr sz="1700" b="0">
                <a:solidFill>
                  <a:srgbClr val="586A7A"/>
                </a:solidFill>
                <a:latin typeface="Arial"/>
              </a:defRPr>
            </a:pPr>
            <a:r>
              <a:t>The unit we can inspect</a:t>
            </a:r>
          </a:p>
        </p:txBody>
      </p:sp>
      <p:sp>
        <p:nvSpPr>
          <p:cNvPr id="11" name="Rounded Rectangle 10"/>
          <p:cNvSpPr/>
          <p:nvPr/>
        </p:nvSpPr>
        <p:spPr>
          <a:xfrm>
            <a:off x="4526280" y="3657600"/>
            <a:ext cx="3291840" cy="150876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3867912"/>
            <a:ext cx="2926080" cy="411480"/>
          </a:xfrm>
          <a:prstGeom prst="rect">
            <a:avLst/>
          </a:prstGeom>
          <a:noFill/>
        </p:spPr>
        <p:txBody>
          <a:bodyPr wrap="square" lIns="0" rIns="0" tIns="0" bIns="0">
            <a:spAutoFit/>
          </a:bodyPr>
          <a:lstStyle/>
          <a:p>
            <a:pPr>
              <a:spcAft>
                <a:spcPts val="600"/>
              </a:spcAft>
              <a:defRPr sz="2300" b="1">
                <a:solidFill>
                  <a:srgbClr val="0072B2"/>
                </a:solidFill>
                <a:latin typeface="Arial"/>
              </a:defRPr>
            </a:pPr>
            <a:r>
              <a:t>Traffic context</a:t>
            </a:r>
          </a:p>
        </p:txBody>
      </p:sp>
      <p:sp>
        <p:nvSpPr>
          <p:cNvPr id="13" name="TextBox 12"/>
          <p:cNvSpPr txBox="1"/>
          <p:nvPr/>
        </p:nvSpPr>
        <p:spPr>
          <a:xfrm>
            <a:off x="4709160" y="4453128"/>
            <a:ext cx="2926080" cy="548640"/>
          </a:xfrm>
          <a:prstGeom prst="rect">
            <a:avLst/>
          </a:prstGeom>
          <a:noFill/>
        </p:spPr>
        <p:txBody>
          <a:bodyPr wrap="square" lIns="0" rIns="0" tIns="0" bIns="0">
            <a:spAutoFit/>
          </a:bodyPr>
          <a:lstStyle/>
          <a:p>
            <a:pPr>
              <a:spcAft>
                <a:spcPts val="600"/>
              </a:spcAft>
              <a:defRPr sz="1700" b="0">
                <a:solidFill>
                  <a:srgbClr val="586A7A"/>
                </a:solidFill>
                <a:latin typeface="Arial"/>
              </a:defRPr>
            </a:pPr>
            <a:r>
              <a:t>Protocol · service · state</a:t>
            </a:r>
          </a:p>
        </p:txBody>
      </p:sp>
      <p:sp>
        <p:nvSpPr>
          <p:cNvPr id="14" name="Rounded Rectangle 13"/>
          <p:cNvSpPr/>
          <p:nvPr/>
        </p:nvSpPr>
        <p:spPr>
          <a:xfrm>
            <a:off x="8412480" y="3657600"/>
            <a:ext cx="3291840" cy="1508760"/>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59" y="3867912"/>
            <a:ext cx="2926080" cy="411480"/>
          </a:xfrm>
          <a:prstGeom prst="rect">
            <a:avLst/>
          </a:prstGeom>
          <a:noFill/>
        </p:spPr>
        <p:txBody>
          <a:bodyPr wrap="square" lIns="0" rIns="0" tIns="0" bIns="0">
            <a:spAutoFit/>
          </a:bodyPr>
          <a:lstStyle/>
          <a:p>
            <a:pPr>
              <a:spcAft>
                <a:spcPts val="600"/>
              </a:spcAft>
              <a:defRPr sz="2300" b="1">
                <a:solidFill>
                  <a:srgbClr val="0072B2"/>
                </a:solidFill>
                <a:latin typeface="Arial"/>
              </a:defRPr>
            </a:pPr>
            <a:r>
              <a:t>Analyst review</a:t>
            </a:r>
          </a:p>
        </p:txBody>
      </p:sp>
      <p:sp>
        <p:nvSpPr>
          <p:cNvPr id="16" name="TextBox 15"/>
          <p:cNvSpPr txBox="1"/>
          <p:nvPr/>
        </p:nvSpPr>
        <p:spPr>
          <a:xfrm>
            <a:off x="8595359" y="4453128"/>
            <a:ext cx="2926080" cy="548640"/>
          </a:xfrm>
          <a:prstGeom prst="rect">
            <a:avLst/>
          </a:prstGeom>
          <a:noFill/>
        </p:spPr>
        <p:txBody>
          <a:bodyPr wrap="square" lIns="0" rIns="0" tIns="0" bIns="0">
            <a:spAutoFit/>
          </a:bodyPr>
          <a:lstStyle/>
          <a:p>
            <a:pPr>
              <a:spcAft>
                <a:spcPts val="600"/>
              </a:spcAft>
              <a:defRPr sz="1700" b="0">
                <a:solidFill>
                  <a:srgbClr val="586A7A"/>
                </a:solidFill>
                <a:latin typeface="Arial"/>
              </a:defRPr>
            </a:pPr>
            <a:r>
              <a:t>An alert is a lead to investigate</a:t>
            </a:r>
          </a:p>
        </p:txBody>
      </p:sp>
      <p:sp>
        <p:nvSpPr>
          <p:cNvPr id="17" name="Rounded Rectangle 16"/>
          <p:cNvSpPr/>
          <p:nvPr/>
        </p:nvSpPr>
        <p:spPr>
          <a:xfrm>
            <a:off x="502920" y="5833872"/>
            <a:ext cx="11155680" cy="475488"/>
          </a:xfrm>
          <a:prstGeom prst="roundRect">
            <a:avLst>
              <a:gd name="adj" fmla="val 12000"/>
            </a:avLst>
          </a:prstGeom>
          <a:solidFill>
            <a:srgbClr val="F0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5934456"/>
            <a:ext cx="10789920" cy="274320"/>
          </a:xfrm>
          <a:prstGeom prst="rect">
            <a:avLst/>
          </a:prstGeom>
          <a:noFill/>
        </p:spPr>
        <p:txBody>
          <a:bodyPr wrap="square" lIns="0" rIns="0" tIns="0" bIns="0">
            <a:spAutoFit/>
          </a:bodyPr>
          <a:lstStyle/>
          <a:p>
            <a:pPr>
              <a:spcAft>
                <a:spcPts val="600"/>
              </a:spcAft>
              <a:defRPr sz="1800" b="1">
                <a:solidFill>
                  <a:srgbClr val="152C43"/>
                </a:solidFill>
                <a:latin typeface="Arial"/>
              </a:defRPr>
            </a:pPr>
            <a:r>
              <a:t>Cross-flow floods need timestamps and host identifiers that are absent 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spcAft>
                <a:spcPts val="600"/>
              </a:spcAft>
              <a:defRPr sz="1100" b="1">
                <a:solidFill>
                  <a:srgbClr val="586A7A"/>
                </a:solidFill>
                <a:latin typeface="Arial"/>
              </a:defRPr>
            </a:pPr>
            <a:r>
              <a:t>SOURCES</a:t>
            </a:r>
          </a:p>
        </p:txBody>
      </p:sp>
      <p:sp>
        <p:nvSpPr>
          <p:cNvPr id="4" name="TextBox 3"/>
          <p:cNvSpPr txBox="1"/>
          <p:nvPr/>
        </p:nvSpPr>
        <p:spPr>
          <a:xfrm>
            <a:off x="502920" y="685800"/>
            <a:ext cx="11155680" cy="640080"/>
          </a:xfrm>
          <a:prstGeom prst="rect">
            <a:avLst/>
          </a:prstGeom>
          <a:noFill/>
        </p:spPr>
        <p:txBody>
          <a:bodyPr wrap="square" lIns="0" rIns="0" tIns="0" bIns="0">
            <a:spAutoFit/>
          </a:bodyPr>
          <a:lstStyle/>
          <a:p>
            <a:pPr>
              <a:spcAft>
                <a:spcPts val="600"/>
              </a:spcAft>
              <a:defRPr sz="3000" b="1">
                <a:solidFill>
                  <a:srgbClr val="152C43"/>
                </a:solidFill>
                <a:latin typeface="Arial"/>
              </a:defRPr>
            </a:pPr>
            <a:r>
              <a:t>Evidence and definitions</a:t>
            </a:r>
          </a:p>
        </p:txBody>
      </p:sp>
      <p:sp>
        <p:nvSpPr>
          <p:cNvPr id="5" name="TextBox 4"/>
          <p:cNvSpPr txBox="1"/>
          <p:nvPr/>
        </p:nvSpPr>
        <p:spPr>
          <a:xfrm>
            <a:off x="502920" y="6519672"/>
            <a:ext cx="9144000" cy="182880"/>
          </a:xfrm>
          <a:prstGeom prst="rect">
            <a:avLst/>
          </a:prstGeom>
          <a:noFill/>
        </p:spPr>
        <p:txBody>
          <a:bodyPr wrap="square" lIns="0" rIns="0" tIns="0" bIns="0">
            <a:spAutoFit/>
          </a:bodyPr>
          <a:lstStyle/>
          <a:p>
            <a:pPr>
              <a:spcAft>
                <a:spcPts val="600"/>
              </a:spcAft>
              <a:defRPr sz="1000" b="0">
                <a:solidFill>
                  <a:srgbClr val="586A7A"/>
                </a:solidFill>
                <a:latin typeface="Arial"/>
              </a:defRPr>
            </a:pPr>
            <a:r>
              <a:t>UNSW-NB15  •  Data exploration</a:t>
            </a:r>
          </a:p>
        </p:txBody>
      </p:sp>
      <p:sp>
        <p:nvSpPr>
          <p:cNvPr id="6" name="TextBox 5"/>
          <p:cNvSpPr txBox="1"/>
          <p:nvPr/>
        </p:nvSpPr>
        <p:spPr>
          <a:xfrm>
            <a:off x="11064240" y="6473952"/>
            <a:ext cx="594360" cy="256032"/>
          </a:xfrm>
          <a:prstGeom prst="rect">
            <a:avLst/>
          </a:prstGeom>
          <a:noFill/>
        </p:spPr>
        <p:txBody>
          <a:bodyPr wrap="square" lIns="0" rIns="0" tIns="0" bIns="0">
            <a:spAutoFit/>
          </a:bodyPr>
          <a:lstStyle/>
          <a:p>
            <a:pPr algn="r">
              <a:spcAft>
                <a:spcPts val="600"/>
              </a:spcAft>
              <a:defRPr sz="1200" b="0">
                <a:solidFill>
                  <a:srgbClr val="586A7A"/>
                </a:solidFill>
                <a:latin typeface="Arial"/>
              </a:defRPr>
            </a:pPr>
            <a:r>
              <a:t>15</a:t>
            </a:r>
          </a:p>
        </p:txBody>
      </p:sp>
      <p:sp>
        <p:nvSpPr>
          <p:cNvPr id="7" name="TextBox 6"/>
          <p:cNvSpPr txBox="1"/>
          <p:nvPr/>
        </p:nvSpPr>
        <p:spPr>
          <a:xfrm>
            <a:off x="685800" y="1737360"/>
            <a:ext cx="2468880" cy="347472"/>
          </a:xfrm>
          <a:prstGeom prst="rect">
            <a:avLst/>
          </a:prstGeom>
          <a:noFill/>
        </p:spPr>
        <p:txBody>
          <a:bodyPr wrap="square" lIns="0" rIns="0" tIns="0" bIns="0">
            <a:spAutoFit/>
          </a:bodyPr>
          <a:lstStyle/>
          <a:p>
            <a:pPr>
              <a:spcAft>
                <a:spcPts val="600"/>
              </a:spcAft>
              <a:defRPr sz="2000" b="1">
                <a:solidFill>
                  <a:srgbClr val="0072B2"/>
                </a:solidFill>
                <a:latin typeface="Arial"/>
              </a:defRPr>
            </a:pPr>
            <a:r>
              <a:t>UNSW-NB15</a:t>
            </a:r>
          </a:p>
        </p:txBody>
      </p:sp>
      <p:sp>
        <p:nvSpPr>
          <p:cNvPr id="8" name="TextBox 7"/>
          <p:cNvSpPr txBox="1"/>
          <p:nvPr/>
        </p:nvSpPr>
        <p:spPr>
          <a:xfrm>
            <a:off x="3108960" y="1737360"/>
            <a:ext cx="8321040" cy="457200"/>
          </a:xfrm>
          <a:prstGeom prst="rect">
            <a:avLst/>
          </a:prstGeom>
          <a:noFill/>
        </p:spPr>
        <p:txBody>
          <a:bodyPr wrap="square" lIns="0" rIns="0" tIns="0" bIns="0">
            <a:spAutoFit/>
          </a:bodyPr>
          <a:lstStyle/>
          <a:p>
            <a:pPr>
              <a:spcAft>
                <a:spcPts val="600"/>
              </a:spcAft>
              <a:defRPr sz="1800" b="0">
                <a:solidFill>
                  <a:srgbClr val="152C43"/>
                </a:solidFill>
                <a:latin typeface="Arial"/>
              </a:defRPr>
            </a:pPr>
            <a:r>
              <a:rPr>
                <a:hlinkClick r:id="rId2"/>
              </a:rPr>
              <a:t>Moustafa &amp; Slay (2015) · dataset description</a:t>
            </a:r>
          </a:p>
        </p:txBody>
      </p:sp>
      <p:sp>
        <p:nvSpPr>
          <p:cNvPr id="9" name="TextBox 8"/>
          <p:cNvSpPr txBox="1"/>
          <p:nvPr/>
        </p:nvSpPr>
        <p:spPr>
          <a:xfrm>
            <a:off x="685800" y="2514600"/>
            <a:ext cx="2468880" cy="347472"/>
          </a:xfrm>
          <a:prstGeom prst="rect">
            <a:avLst/>
          </a:prstGeom>
          <a:noFill/>
        </p:spPr>
        <p:txBody>
          <a:bodyPr wrap="square" lIns="0" rIns="0" tIns="0" bIns="0">
            <a:spAutoFit/>
          </a:bodyPr>
          <a:lstStyle/>
          <a:p>
            <a:pPr>
              <a:spcAft>
                <a:spcPts val="600"/>
              </a:spcAft>
              <a:defRPr sz="2000" b="1">
                <a:solidFill>
                  <a:srgbClr val="0072B2"/>
                </a:solidFill>
                <a:latin typeface="Arial"/>
              </a:defRPr>
            </a:pPr>
            <a:r>
              <a:t>Network fields</a:t>
            </a:r>
          </a:p>
        </p:txBody>
      </p:sp>
      <p:sp>
        <p:nvSpPr>
          <p:cNvPr id="10" name="TextBox 9"/>
          <p:cNvSpPr txBox="1"/>
          <p:nvPr/>
        </p:nvSpPr>
        <p:spPr>
          <a:xfrm>
            <a:off x="3108960" y="2514600"/>
            <a:ext cx="8321040" cy="457200"/>
          </a:xfrm>
          <a:prstGeom prst="rect">
            <a:avLst/>
          </a:prstGeom>
          <a:noFill/>
        </p:spPr>
        <p:txBody>
          <a:bodyPr wrap="square" lIns="0" rIns="0" tIns="0" bIns="0">
            <a:spAutoFit/>
          </a:bodyPr>
          <a:lstStyle/>
          <a:p>
            <a:pPr>
              <a:spcAft>
                <a:spcPts val="600"/>
              </a:spcAft>
              <a:defRPr sz="1800" b="0">
                <a:solidFill>
                  <a:srgbClr val="152C43"/>
                </a:solidFill>
                <a:latin typeface="Arial"/>
              </a:defRPr>
            </a:pPr>
            <a:r>
              <a:rPr>
                <a:hlinkClick r:id="rId3"/>
              </a:rPr>
              <a:t>Argus ra manual · packet, byte, timing and state definitions</a:t>
            </a:r>
          </a:p>
        </p:txBody>
      </p:sp>
      <p:sp>
        <p:nvSpPr>
          <p:cNvPr id="11" name="TextBox 10"/>
          <p:cNvSpPr txBox="1"/>
          <p:nvPr/>
        </p:nvSpPr>
        <p:spPr>
          <a:xfrm>
            <a:off x="685800" y="3291839"/>
            <a:ext cx="2468880" cy="347472"/>
          </a:xfrm>
          <a:prstGeom prst="rect">
            <a:avLst/>
          </a:prstGeom>
          <a:noFill/>
        </p:spPr>
        <p:txBody>
          <a:bodyPr wrap="square" lIns="0" rIns="0" tIns="0" bIns="0">
            <a:spAutoFit/>
          </a:bodyPr>
          <a:lstStyle/>
          <a:p>
            <a:pPr>
              <a:spcAft>
                <a:spcPts val="600"/>
              </a:spcAft>
              <a:defRPr sz="2000" b="1">
                <a:solidFill>
                  <a:srgbClr val="0072B2"/>
                </a:solidFill>
                <a:latin typeface="Arial"/>
              </a:defRPr>
            </a:pPr>
            <a:r>
              <a:t>DoS context</a:t>
            </a:r>
          </a:p>
        </p:txBody>
      </p:sp>
      <p:sp>
        <p:nvSpPr>
          <p:cNvPr id="12" name="TextBox 11"/>
          <p:cNvSpPr txBox="1"/>
          <p:nvPr/>
        </p:nvSpPr>
        <p:spPr>
          <a:xfrm>
            <a:off x="3108960" y="3291839"/>
            <a:ext cx="8321040" cy="457200"/>
          </a:xfrm>
          <a:prstGeom prst="rect">
            <a:avLst/>
          </a:prstGeom>
          <a:noFill/>
        </p:spPr>
        <p:txBody>
          <a:bodyPr wrap="square" lIns="0" rIns="0" tIns="0" bIns="0">
            <a:spAutoFit/>
          </a:bodyPr>
          <a:lstStyle/>
          <a:p>
            <a:pPr>
              <a:spcAft>
                <a:spcPts val="600"/>
              </a:spcAft>
              <a:defRPr sz="1800" b="0">
                <a:solidFill>
                  <a:srgbClr val="152C43"/>
                </a:solidFill>
                <a:latin typeface="Arial"/>
              </a:defRPr>
            </a:pPr>
            <a:r>
              <a:rPr>
                <a:hlinkClick r:id="rId4"/>
              </a:rPr>
              <a:t>CISA · Understanding and responding to DDoS attacks</a:t>
            </a:r>
          </a:p>
        </p:txBody>
      </p:sp>
      <p:sp>
        <p:nvSpPr>
          <p:cNvPr id="13" name="TextBox 12"/>
          <p:cNvSpPr txBox="1"/>
          <p:nvPr/>
        </p:nvSpPr>
        <p:spPr>
          <a:xfrm>
            <a:off x="685800" y="4069079"/>
            <a:ext cx="2468880" cy="347472"/>
          </a:xfrm>
          <a:prstGeom prst="rect">
            <a:avLst/>
          </a:prstGeom>
          <a:noFill/>
        </p:spPr>
        <p:txBody>
          <a:bodyPr wrap="square" lIns="0" rIns="0" tIns="0" bIns="0">
            <a:spAutoFit/>
          </a:bodyPr>
          <a:lstStyle/>
          <a:p>
            <a:pPr>
              <a:spcAft>
                <a:spcPts val="600"/>
              </a:spcAft>
              <a:defRPr sz="2000" b="1">
                <a:solidFill>
                  <a:srgbClr val="0072B2"/>
                </a:solidFill>
                <a:latin typeface="Arial"/>
              </a:defRPr>
            </a:pPr>
            <a:r>
              <a:t>Class methods</a:t>
            </a:r>
          </a:p>
        </p:txBody>
      </p:sp>
      <p:sp>
        <p:nvSpPr>
          <p:cNvPr id="14" name="TextBox 13"/>
          <p:cNvSpPr txBox="1"/>
          <p:nvPr/>
        </p:nvSpPr>
        <p:spPr>
          <a:xfrm>
            <a:off x="3108960" y="4069079"/>
            <a:ext cx="8321040" cy="457200"/>
          </a:xfrm>
          <a:prstGeom prst="rect">
            <a:avLst/>
          </a:prstGeom>
          <a:noFill/>
        </p:spPr>
        <p:txBody>
          <a:bodyPr wrap="square" lIns="0" rIns="0" tIns="0" bIns="0">
            <a:spAutoFit/>
          </a:bodyPr>
          <a:lstStyle/>
          <a:p>
            <a:pPr>
              <a:spcAft>
                <a:spcPts val="600"/>
              </a:spcAft>
              <a:defRPr sz="1800" b="0">
                <a:solidFill>
                  <a:srgbClr val="152C43"/>
                </a:solidFill>
                <a:latin typeface="Arial"/>
              </a:defRPr>
            </a:pPr>
            <a:r>
              <a:t>Temperature notebook 01b · engine exploration 07a</a:t>
            </a:r>
          </a:p>
        </p:txBody>
      </p:sp>
      <p:sp>
        <p:nvSpPr>
          <p:cNvPr id="15" name="TextBox 14"/>
          <p:cNvSpPr txBox="1"/>
          <p:nvPr/>
        </p:nvSpPr>
        <p:spPr>
          <a:xfrm>
            <a:off x="685800" y="4846320"/>
            <a:ext cx="2468880" cy="347472"/>
          </a:xfrm>
          <a:prstGeom prst="rect">
            <a:avLst/>
          </a:prstGeom>
          <a:noFill/>
        </p:spPr>
        <p:txBody>
          <a:bodyPr wrap="square" lIns="0" rIns="0" tIns="0" bIns="0">
            <a:spAutoFit/>
          </a:bodyPr>
          <a:lstStyle/>
          <a:p>
            <a:pPr>
              <a:spcAft>
                <a:spcPts val="600"/>
              </a:spcAft>
              <a:defRPr sz="2000" b="1">
                <a:solidFill>
                  <a:srgbClr val="0072B2"/>
                </a:solidFill>
                <a:latin typeface="Arial"/>
              </a:defRPr>
            </a:pPr>
            <a:r>
              <a:t>Our analysis</a:t>
            </a:r>
          </a:p>
        </p:txBody>
      </p:sp>
      <p:sp>
        <p:nvSpPr>
          <p:cNvPr id="16" name="TextBox 15"/>
          <p:cNvSpPr txBox="1"/>
          <p:nvPr/>
        </p:nvSpPr>
        <p:spPr>
          <a:xfrm>
            <a:off x="3108960" y="4846320"/>
            <a:ext cx="8321040" cy="457200"/>
          </a:xfrm>
          <a:prstGeom prst="rect">
            <a:avLst/>
          </a:prstGeom>
          <a:noFill/>
        </p:spPr>
        <p:txBody>
          <a:bodyPr wrap="square" lIns="0" rIns="0" tIns="0" bIns="0">
            <a:spAutoFit/>
          </a:bodyPr>
          <a:lstStyle/>
          <a:p>
            <a:pPr>
              <a:spcAft>
                <a:spcPts val="600"/>
              </a:spcAft>
              <a:defRPr sz="1800" b="0">
                <a:solidFill>
                  <a:srgbClr val="152C43"/>
                </a:solidFill>
                <a:latin typeface="Arial"/>
              </a:defRPr>
            </a:pPr>
            <a:r>
              <a:t>01-exploration.ipynb · content/normal_dos.csv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Normal and DoS Traffic</dc:title>
  <dc:subject>UNSW-NB15: domain understanding, data exploration and task formulation</dc:subject>
  <dc:creator>Network intrusion project</dc:creator>
  <cp:keywords>UNSW-NB15, DoS, data exploration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